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4d311f498a4b21" /><Relationship Type="http://schemas.openxmlformats.org/officeDocument/2006/relationships/extended-properties" Target="/docProps/app.xml" Id="Rd60df94511554ec4" /><Relationship Type="http://schemas.openxmlformats.org/officeDocument/2006/relationships/officeDocument" Target="/ppt/presentation.xml" Id="R3a9558eda89349bf" /></Relationships>
</file>

<file path=ppt/presentation.xml><?xml version="1.0" encoding="utf-8"?>
<p:presentation xmlns:p="http://schemas.openxmlformats.org/presentationml/2006/main">
  <p:sldMasterIdLst>
    <p:sldMasterId xmlns:r="http://schemas.openxmlformats.org/officeDocument/2006/relationships" id="2147483648" r:id="R84924085a5084756"/>
  </p:sldMasterIdLst>
  <p:notesMasterIdLst>
    <p:notesMasterId xmlns:r="http://schemas.openxmlformats.org/officeDocument/2006/relationships" r:id="Rca6659562e244cb8"/>
  </p:notesMasterIdLst>
  <p:sldIdLst>
    <p:sldId xmlns:r="http://schemas.openxmlformats.org/officeDocument/2006/relationships" id="256" r:id="R57fbe60569bb4c50"/>
    <p:sldId xmlns:r="http://schemas.openxmlformats.org/officeDocument/2006/relationships" id="257" r:id="Rb43f2820bdf440e9"/>
    <p:sldId xmlns:r="http://schemas.openxmlformats.org/officeDocument/2006/relationships" id="258" r:id="Rd7a4663d8b334533"/>
    <p:sldId xmlns:r="http://schemas.openxmlformats.org/officeDocument/2006/relationships" id="259" r:id="R835478985e784369"/>
    <p:sldId xmlns:r="http://schemas.openxmlformats.org/officeDocument/2006/relationships" id="260" r:id="R6528b9714f9045f9"/>
    <p:sldId xmlns:r="http://schemas.openxmlformats.org/officeDocument/2006/relationships" id="261" r:id="Rcc86c6620fbd41b0"/>
    <p:sldId xmlns:r="http://schemas.openxmlformats.org/officeDocument/2006/relationships" id="262" r:id="Rcb9105b8e6474f28"/>
    <p:sldId xmlns:r="http://schemas.openxmlformats.org/officeDocument/2006/relationships" id="263" r:id="R3e02669ef9e44526"/>
    <p:sldId xmlns:r="http://schemas.openxmlformats.org/officeDocument/2006/relationships" id="264" r:id="Rd928311e135542c7"/>
    <p:sldId xmlns:r="http://schemas.openxmlformats.org/officeDocument/2006/relationships" id="265" r:id="Rfa43433d7fba4a31"/>
    <p:sldId xmlns:r="http://schemas.openxmlformats.org/officeDocument/2006/relationships" id="266" r:id="R912e3b05e939441a"/>
    <p:sldId xmlns:r="http://schemas.openxmlformats.org/officeDocument/2006/relationships" id="267" r:id="Ra82041feda0143e4"/>
    <p:sldId xmlns:r="http://schemas.openxmlformats.org/officeDocument/2006/relationships" id="268" r:id="Re289ed65e2814744"/>
    <p:sldId xmlns:r="http://schemas.openxmlformats.org/officeDocument/2006/relationships" id="269" r:id="R9fef5f8f1ae64975"/>
    <p:sldId xmlns:r="http://schemas.openxmlformats.org/officeDocument/2006/relationships" id="270" r:id="R6b985cb1edac4d2d"/>
    <p:sldId xmlns:r="http://schemas.openxmlformats.org/officeDocument/2006/relationships" id="271" r:id="R6efbe722364141bb"/>
    <p:sldId xmlns:r="http://schemas.openxmlformats.org/officeDocument/2006/relationships" id="272" r:id="Rab408711b47946f8"/>
    <p:sldId xmlns:r="http://schemas.openxmlformats.org/officeDocument/2006/relationships" id="273" r:id="Rb7883c05dbf24e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3cc13ff9674a72" /><Relationship Type="http://schemas.openxmlformats.org/officeDocument/2006/relationships/slideMaster" Target="/ppt/slideMasters/slideMaster1.xml" Id="R84924085a5084756" /><Relationship Type="http://schemas.openxmlformats.org/officeDocument/2006/relationships/notesMaster" Target="/ppt/notesMasters/notesMaster1.xml" Id="Rca6659562e244cb8" /><Relationship Type="http://schemas.openxmlformats.org/officeDocument/2006/relationships/presProps" Target="/ppt/presProps.xml" Id="R29639c96917d4946" /><Relationship Type="http://schemas.openxmlformats.org/officeDocument/2006/relationships/tableStyles" Target="/ppt/tableStyles.xml" Id="R86278f7a77dc483a" /><Relationship Type="http://schemas.openxmlformats.org/officeDocument/2006/relationships/slide" Target="/ppt/slides/slide1.xml" Id="R57fbe60569bb4c50" /><Relationship Type="http://schemas.openxmlformats.org/officeDocument/2006/relationships/slide" Target="/ppt/slides/slide2.xml" Id="Rb43f2820bdf440e9" /><Relationship Type="http://schemas.openxmlformats.org/officeDocument/2006/relationships/slide" Target="/ppt/slides/slide3.xml" Id="Rd7a4663d8b334533" /><Relationship Type="http://schemas.openxmlformats.org/officeDocument/2006/relationships/slide" Target="/ppt/slides/slide4.xml" Id="R835478985e784369" /><Relationship Type="http://schemas.openxmlformats.org/officeDocument/2006/relationships/slide" Target="/ppt/slides/slide5.xml" Id="R6528b9714f9045f9" /><Relationship Type="http://schemas.openxmlformats.org/officeDocument/2006/relationships/slide" Target="/ppt/slides/slide6.xml" Id="Rcc86c6620fbd41b0" /><Relationship Type="http://schemas.openxmlformats.org/officeDocument/2006/relationships/slide" Target="/ppt/slides/slide7.xml" Id="Rcb9105b8e6474f28" /><Relationship Type="http://schemas.openxmlformats.org/officeDocument/2006/relationships/slide" Target="/ppt/slides/slide8.xml" Id="R3e02669ef9e44526" /><Relationship Type="http://schemas.openxmlformats.org/officeDocument/2006/relationships/slide" Target="/ppt/slides/slide9.xml" Id="Rd928311e135542c7" /><Relationship Type="http://schemas.openxmlformats.org/officeDocument/2006/relationships/slide" Target="/ppt/slides/slide10.xml" Id="Rfa43433d7fba4a31" /><Relationship Type="http://schemas.openxmlformats.org/officeDocument/2006/relationships/slide" Target="/ppt/slides/slide11.xml" Id="R912e3b05e939441a" /><Relationship Type="http://schemas.openxmlformats.org/officeDocument/2006/relationships/slide" Target="/ppt/slides/slide12.xml" Id="Ra82041feda0143e4" /><Relationship Type="http://schemas.openxmlformats.org/officeDocument/2006/relationships/slide" Target="/ppt/slides/slide13.xml" Id="Re289ed65e2814744" /><Relationship Type="http://schemas.openxmlformats.org/officeDocument/2006/relationships/slide" Target="/ppt/slides/slide14.xml" Id="R9fef5f8f1ae64975" /><Relationship Type="http://schemas.openxmlformats.org/officeDocument/2006/relationships/slide" Target="/ppt/slides/slide15.xml" Id="R6b985cb1edac4d2d" /><Relationship Type="http://schemas.openxmlformats.org/officeDocument/2006/relationships/slide" Target="/ppt/slides/slide16.xml" Id="R6efbe722364141bb" /><Relationship Type="http://schemas.openxmlformats.org/officeDocument/2006/relationships/slide" Target="/ppt/slides/slide17.xml" Id="Rab408711b47946f8" /><Relationship Type="http://schemas.openxmlformats.org/officeDocument/2006/relationships/slide" Target="/ppt/slides/slide18.xml" Id="Rb7883c05dbf24e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3ac2878bf741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a5e858247f4fb9" /><Relationship Type="http://schemas.openxmlformats.org/officeDocument/2006/relationships/notesMaster" Target="/ppt/notesMasters/notesMaster1.xml" Id="R3da26700c7c649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0b54723d2c4615" /><Relationship Type="http://schemas.openxmlformats.org/officeDocument/2006/relationships/notesMaster" Target="/ppt/notesMasters/notesMaster1.xml" Id="Rc9c500b28bd141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8f93f595024c1d" /><Relationship Type="http://schemas.openxmlformats.org/officeDocument/2006/relationships/notesMaster" Target="/ppt/notesMasters/notesMaster1.xml" Id="Rdc8ce7bc855144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abaf2b4e9e4cc8" /><Relationship Type="http://schemas.openxmlformats.org/officeDocument/2006/relationships/notesMaster" Target="/ppt/notesMasters/notesMaster1.xml" Id="R63ef3e04a38749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bb9c3069bb4d95" /><Relationship Type="http://schemas.openxmlformats.org/officeDocument/2006/relationships/notesMaster" Target="/ppt/notesMasters/notesMaster1.xml" Id="R4b6dbda3412b49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4ca47abb1f4124" /><Relationship Type="http://schemas.openxmlformats.org/officeDocument/2006/relationships/notesMaster" Target="/ppt/notesMasters/notesMaster1.xml" Id="R028aa4e2ca964c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6de5812c8c4343" /><Relationship Type="http://schemas.openxmlformats.org/officeDocument/2006/relationships/notesMaster" Target="/ppt/notesMasters/notesMaster1.xml" Id="Rf7620034f12b46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d103f7562449f7" /><Relationship Type="http://schemas.openxmlformats.org/officeDocument/2006/relationships/notesMaster" Target="/ppt/notesMasters/notesMaster1.xml" Id="Rfab8f0f487574e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753eb0d4994e0d" /><Relationship Type="http://schemas.openxmlformats.org/officeDocument/2006/relationships/notesMaster" Target="/ppt/notesMasters/notesMaster1.xml" Id="Rbfba18762b1b4e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881c2874564eb0" /><Relationship Type="http://schemas.openxmlformats.org/officeDocument/2006/relationships/notesMaster" Target="/ppt/notesMasters/notesMaster1.xml" Id="R406c99476b0740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9123c7d2954efe" /><Relationship Type="http://schemas.openxmlformats.org/officeDocument/2006/relationships/notesMaster" Target="/ppt/notesMasters/notesMaster1.xml" Id="Rf969bc9d2f7f4b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49779a7658433b" /><Relationship Type="http://schemas.openxmlformats.org/officeDocument/2006/relationships/notesMaster" Target="/ppt/notesMasters/notesMaster1.xml" Id="R68a542e87ff943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4c8cc2f96e4f54" /><Relationship Type="http://schemas.openxmlformats.org/officeDocument/2006/relationships/notesMaster" Target="/ppt/notesMasters/notesMaster1.xml" Id="R882a270ad5b741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da5388620d4f95" /><Relationship Type="http://schemas.openxmlformats.org/officeDocument/2006/relationships/notesMaster" Target="/ppt/notesMasters/notesMaster1.xml" Id="R514428099e7347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2938c7fb3954418" /><Relationship Type="http://schemas.openxmlformats.org/officeDocument/2006/relationships/notesMaster" Target="/ppt/notesMasters/notesMaster1.xml" Id="Ra52d0de49f4d4d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e7d78c8562344d5" /><Relationship Type="http://schemas.openxmlformats.org/officeDocument/2006/relationships/notesMaster" Target="/ppt/notesMasters/notesMaster1.xml" Id="Rbc88c8efbba242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5af5356940d4908" /><Relationship Type="http://schemas.openxmlformats.org/officeDocument/2006/relationships/notesMaster" Target="/ppt/notesMasters/notesMaster1.xml" Id="R610c4996ea84459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19ef62f5a34028" /><Relationship Type="http://schemas.openxmlformats.org/officeDocument/2006/relationships/notesMaster" Target="/ppt/notesMasters/notesMaster1.xml" Id="R1d4cc6e98bb247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 la bienvenida y establezca el contrato del bloque: no se evaluará quién domina más herramientas. Se practicará un método transferible. Explique que la jornada combina demostración, ejecución individual y verificación. La meta inmediata es salir con una instrucción reutilizable, no con una lista de aplicaciones. Anticipe que se mostrarán errores deliberadamente: una salida convincente puede ser lingüística o pedagógicamente inadecuada. Señale que la persona docente conserva responsabilidad sobre objetivo, nivel, datos y evaluación.</a:t>
            </a:r>
          </a:p>
          <a:p xmlns:a="http://schemas.openxmlformats.org/drawingml/2006/main">
            <a:r>
              <a:t/>
            </a:r>
          </a:p>
          <a:p xmlns:a="http://schemas.openxmlformats.org/drawingml/2006/main">
            <a:r>
              <a:t>[Sources]</a:t>
            </a:r>
          </a:p>
          <a:p xmlns:a="http://schemas.openxmlformats.org/drawingml/2006/main">
            <a:r>
              <a:t>UNESCO, *AI competency framework for teachers* (2024; actualización de página 16 ene 2026): https://www.unesco.org/en/articles/ai-competency-framework-teachers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Active el sondeo y lea todas las opciones con neutralidad. Aclare que la respuesta no mide competencia ni calidad docente; solo permite ajustar velocidad y ejemplos. Mientras entran respuestas, recuerde que una persona que nunca ha usado IA puede completar la práctica con la plantilla y el respaldo. Una persona experimentada tendrá extensiones opcionales. No comente unidades regionales ni idiomas en grupos pequeños. Muestre únicamente la distribución agregada. Cierre diciendo que el método será el mismo para todas las herramientas.</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 las tres fallas que organizarán el bloque. “Inventar” significa producir contenido plausible pero falso. “Complacer” significa adaptar la respuesta a lo que la persona parece querer oír, incluso cuando convendría disentir. “Salir del nivel” puede producir gramática correcta, pero inútil para el grupo meta. No diga que todas las respuestas fallan. Explique que la fluidez dificulta notar el problema y que por eso la verificación debe formar parte de la consigna y de la actividad docente.</a:t>
            </a:r>
          </a:p>
          <a:p xmlns:a="http://schemas.openxmlformats.org/drawingml/2006/main">
            <a:r>
              <a:t/>
            </a:r>
          </a:p>
          <a:p xmlns:a="http://schemas.openxmlformats.org/drawingml/2006/main">
            <a:r>
              <a:t>[Sources]</a:t>
            </a:r>
          </a:p>
          <a:p xmlns:a="http://schemas.openxmlformats.org/drawingml/2006/main">
            <a:r>
              <a:t>OpenAI, *Why language models hallucinate* (5 sep 2025): https://openai.com/index/why-language-models-hallucinate/ · Anthropic, *Towards Understanding Sycophancy in Language Models* (23 oct 2023): https://www.anthropic.com/research/towards-understanding-sycophancy-in-language-models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una explicación funcional, sin entrar en arquitectura matemática. El preentrenamiento enseña a predecir continuaciones a partir de patrones textuales. Procesos posteriores mejoran utilidad y seguridad, pero no convierten cada salida en un hecho verificado. La consecuencia pedagógica es concreta: pedir una fuente no garantiza que exista; pedir A2 no garantiza calibración; pedir retroalimentación puede producir elogios genéricos. Señale que la instrucción reduce algunos riesgos, pero no sustituye la revisión. Muestre el tercer paso de la secuencia: comprobar antes de usar.</a:t>
            </a:r>
          </a:p>
          <a:p xmlns:a="http://schemas.openxmlformats.org/drawingml/2006/main">
            <a:r>
              <a:t/>
            </a:r>
          </a:p>
          <a:p xmlns:a="http://schemas.openxmlformats.org/drawingml/2006/main">
            <a:r>
              <a:t>[Sources]</a:t>
            </a:r>
          </a:p>
          <a:p xmlns:a="http://schemas.openxmlformats.org/drawingml/2006/main">
            <a:r>
              <a:t>OpenAI, *Why language models hallucinate* (5 sep 2025): https://openai.com/index/why-language-models-hallucinate/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Distinga las tres categorías. Automatizar resulta razonable para producir variantes iniciales, cambiar formatos o generar material sintético. Apoyar significa que la IA participa, pero una persona verifica nivel, exactitud y adecuación. No delegar incluye decisiones de evaluación sin evidencia, tratamiento de datos sensibles y diagnósticos sobre personas. Subraye que la misma tarea puede cambiar de categoría según el contexto. Una rúbrica puede ser un borrador automatizado, una herramienta de apoyo al aplicarla y una mala delegación si asigna la calificación final sin revisión.</a:t>
            </a:r>
          </a:p>
          <a:p xmlns:a="http://schemas.openxmlformats.org/drawingml/2006/main">
            <a:r>
              <a:t/>
            </a:r>
          </a:p>
          <a:p xmlns:a="http://schemas.openxmlformats.org/drawingml/2006/main">
            <a:r>
              <a:t>[Sources]</a:t>
            </a:r>
          </a:p>
          <a:p xmlns:a="http://schemas.openxmlformats.org/drawingml/2006/main">
            <a:r>
              <a:t>UNESCO, *AI competency framework for teachers* (2024): https://www.unesco.org/en/articles/ai-competency-framework-teachers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 la plantilla común a toda la jornada. Dé un contraejemplo: “Haga una actividad de inglés” obliga al modelo a inventar nivel, grupo, duración y producto. Después muestre cómo cada componente reduce un tipo de ambigüedad. El contexto ocupacional no es una decoración: cambia registro, situación y evidencia. El formato exacto vuelve verificable la salida. Las restricciones protegen tiempo, vocabulario y tarea cognitiva. Pida a las personas que localicen en su objetivo real cuáles componentes ya conocen y cuál todavía falta.</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 la regla completa. No basta quitar el nombre si la combinación de unidad, idioma, situación y detalle permite reconocer a una persona. En este taller se usan muestras sintéticas y la propia voz de la persona docente. Explique que anonimizar bien exige revisar el conjunto, no solo un campo. Para una necesidad real, describa el patrón de manera general o construya un caso ficticio equivalente. Aclare que la revisión jurídica institucional corresponde al INA y que este taller ofrece una salvaguarda operativa, no asesoría jurídica.</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Lance el segundo sondeo. La respuesta prevista es C. Use el resultado para reforzar que una grabación de voz puede identificar a una persona y no debe cargarse durante la jornada. Si alguien pregunta por consentimiento, indique que requiere finalidad, información, gestión institucional y condiciones claras; no improvise una autorización individual. Recuerde que el modo de voz se probará con la voz propia. Cierre el encuadre y anuncie la comparación de tres usos didácticos, no una competencia entre marcas.</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Explique que cada demostración dura cuatro minutos y prueba una función didáctica diferente. Las condiciones de disponibilidad y límites dependen de plan, región, cuenta y versión; se verificarán nuevamente en septiembre. En ChatGPT observe si conserva A2. En Claude observe si limita la retroalimentación y reconoce incertidumbre. En Gemini observe si mantiene el papel ocupacional. No compare voces por gusto personal. Compare cumplimiento de la instrucción, control del turno, transcripción y posibilidad de revisar el resultado.</a:t>
            </a:r>
          </a:p>
          <a:p xmlns:a="http://schemas.openxmlformats.org/drawingml/2006/main">
            <a:r>
              <a:t/>
            </a:r>
          </a:p>
          <a:p xmlns:a="http://schemas.openxmlformats.org/drawingml/2006/main">
            <a:r>
              <a:t>[Sources]</a:t>
            </a:r>
          </a:p>
          <a:p xmlns:a="http://schemas.openxmlformats.org/drawingml/2006/main">
            <a:r>
              <a:t>OpenAI, *ChatGPT Voice* (consulta 28 ago 2026): https://help.openai.com/en/articles/20001274/ · Anthropic, *Using voice mode on Claude Mobile Apps* (consulta 28 ago 2026): https://support.anthropic.com/en/articles/11101966-using-voice-mode-on-claude-mobile-apps · Google, ayuda de aplicaciones Gemini (consulta 28 ago 2026): https://support.google.com/gemini/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Abra ChatGPT Voice y pegue o lea la instrucción de PR-06 adaptada a una reserva hotelera. Comparta el audio de forma que Teams lo reproduzca. Converse cuatro turnos. Deténgase si aparece una oración larga, vocabulario superior o dos preguntas simultáneas. Nombre la falla sin ridiculizar la herramienta: “La respuesta es fluida, pero no respeta nuestra restricción”. Si la función no está disponible o alcanza un límite, use la transcripción pregenerada. Indique que los límites de Free pueden cambiar y no prometa una duración exacta.</a:t>
            </a:r>
          </a:p>
          <a:p xmlns:a="http://schemas.openxmlformats.org/drawingml/2006/main">
            <a:r>
              <a:t/>
            </a:r>
          </a:p>
          <a:p xmlns:a="http://schemas.openxmlformats.org/drawingml/2006/main">
            <a:r>
              <a:t>[Sources]</a:t>
            </a:r>
          </a:p>
          <a:p xmlns:a="http://schemas.openxmlformats.org/drawingml/2006/main">
            <a:r>
              <a:t>OpenAI, *ChatGPT Voice* (consulta 28 ago 2026): https://help.openai.com/en/articles/20001274/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Claude con su propia voz. Solicite una fortaleza sustentada, una sola prioridad y una frase breve para volver a intentar. Si la herramienta elogia todo, pregunte qué evidencia concreta sustenta el comentario. Si confunde transcripción con pronunciación, señale el límite: el texto reconocido no demuestra por sí solo qué rasgo fonético ocurrió. La ayuda oficial indica que Voice está en aplicaciones móviles y que las conversaciones cuentan contra límites regulares; su disponibilidad lingüística debe verificarse nuevamente antes del taller.</a:t>
            </a:r>
          </a:p>
          <a:p xmlns:a="http://schemas.openxmlformats.org/drawingml/2006/main">
            <a:r>
              <a:t/>
            </a:r>
          </a:p>
          <a:p xmlns:a="http://schemas.openxmlformats.org/drawingml/2006/main">
            <a:r>
              <a:t>[Sources]</a:t>
            </a:r>
          </a:p>
          <a:p xmlns:a="http://schemas.openxmlformats.org/drawingml/2006/main">
            <a:r>
              <a:t>Anthropic, *Using voice mode on Claude Mobile Apps* (consulta 28 ago 2026): https://support.anthropic.com/en/articles/11101966-using-voice-mode-on-claude-mobile-apps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Abra Gemini Live y plantee una situación de atención al cliente con datos ficticios. Compruebe si mantiene el papel, espera cada respuesta y evita inventar políticas. Interrúmpalo deliberadamente con una pregunta fuera de la situación. Observe si regresa al objetivo. Si la aplicación o Live no están disponibles para la cuenta, use la transcripción de respaldo. La ayuda oficial confirma amplia disponibilidad móvil, pero país, idioma, dispositivo y cuenta pueden condicionar funciones. Mantenga `[VERIFICAR SEPTIEMBRE]` en el material técnico.</a:t>
            </a:r>
          </a:p>
          <a:p xmlns:a="http://schemas.openxmlformats.org/drawingml/2006/main">
            <a:r>
              <a:t/>
            </a:r>
          </a:p>
          <a:p xmlns:a="http://schemas.openxmlformats.org/drawingml/2006/main">
            <a:r>
              <a:t>[Sources]</a:t>
            </a:r>
          </a:p>
          <a:p xmlns:a="http://schemas.openxmlformats.org/drawingml/2006/main">
            <a:r>
              <a:t>Google, *Disponibilidad de la aplicación móvil de Gemini* (consulta 28 ago 2026): https://support.google.com/gemini/answer/14579026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la matriz con observaciones de las tres pruebas. Evite declarar una herramienta superior de forma general. Una puede mantener mejor el turno hoy y fallar en otra cuenta, idioma o actualización. El criterio docente es escoger según tarea, datos y condiciones. Señale dos límites transversales: la transcripción puede fallar y la respuesta puede ser complaciente. Concluya que el modo de voz aumenta oportunidades de práctica, pero no debe reemplazar la producción, la interacción humana ni la evaluación responsable.</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Haga la transición de las herramientas al método. El encargo define la necesidad real. La instrucción reduce ambigüedad. La salida es un borrador, no un producto autorizado. La verificación compara contra nivel, tiempo, precisión y contexto. La adaptación decide qué cambiar para el grupo y qué no usar. Indique que la demostración de ocho minutos mostrará una salida defectuosa real o pregenerada. El aprendizaje central ocurre al explicar por qué falla y qué modificación específica mejora la instrucción.</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Ejecute P4.3. Escriba primero la petición vaga y muestre brevemente la salida. Razone en voz alta: qué supuestos tomó el modelo, qué no cabe en clase y qué lenguaje está fuera de nivel. Después reconstruya la instrucción con CO-02. No revele una instrucción perfecta desde el inicio; modele cómo se detecta una necesidad. Pregunte al chat cuál componente falta primero. Incorpore dos respuestas y complete los cinco componentes. Genere de nuevo.</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Muestre la salida defectuosa pregenerada de PR-01. Pida al chat marcar con un signo de admiración el defecto de mayor impacto. Conduzca la devolución hacia la sustitución de la producción: un diálogo completo permite leer sin tomar decisiones. Después señale nivel, duración y políticas inventadas. Modifique solo dos restricciones: guion incompleto y prohibición de inventar políticas. Genere o muestre la salida corregida. Compare contra el objetivo, no contra una impresión estética.</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Fije la consigna completa en el chat y abra el temporizador de 12 minutos. Indique que cada persona usa su objetivo real o un caso CO. Debe incluir cinco componentes, generar una salida, detectar un defecto y mejorar una parte de la instrucción. Quien no tenga acceso abre el respaldo PR-01 y realiza verificación y adaptación. Anuncie que no habrá soporte oral durante la ventana. La organización atenderá problemas técnicos por chat privado. Avise cuando resten seis, tres y un minuto.</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 tres minutos para el envío. Recuerde que el formulario acepta múltiples respuestas y este envío corresponde solo a PR-01. No se recopilan nombre ni correo de manera automática salvo decisión institucional documentada. La moderación selecciona dos respuestas por completitud, especificidad y claridad del hallazgo, no “las mejores”. En los dos minutos finales, lea fragmentos sin identificar autoría. Nombre una fortaleza concreta y una mejora. Cierre: una mejor instrucción no elimina la revisión; la vuelve más enfocada.</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3ef25fd8c24f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ad37e5370f4a6d" /><Relationship Type="http://schemas.openxmlformats.org/officeDocument/2006/relationships/slideLayout" Target="/ppt/slideLayouts/slideLayout1.xml" Id="R2a36cae963ed41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36cae963ed41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b3143a9af04341" /><Relationship Type="http://schemas.openxmlformats.org/officeDocument/2006/relationships/notesSlide" Target="/ppt/notesSlides/notesSlide1.xml" Id="R2fe34899b5704a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1b1bd669894002" /><Relationship Type="http://schemas.openxmlformats.org/officeDocument/2006/relationships/notesSlide" Target="/ppt/notesSlides/notesSlide2.xml" Id="Rc7990290ec0b45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3d31b4cb7148cf" /><Relationship Type="http://schemas.openxmlformats.org/officeDocument/2006/relationships/notesSlide" Target="/ppt/notesSlides/notesSlide3.xml" Id="Rc057236b5d1c4c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c36e3ce9a643a9" /><Relationship Type="http://schemas.openxmlformats.org/officeDocument/2006/relationships/notesSlide" Target="/ppt/notesSlides/notesSlide4.xml" Id="R0402e25ed7144c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bc95ad336543bd" /><Relationship Type="http://schemas.openxmlformats.org/officeDocument/2006/relationships/notesSlide" Target="/ppt/notesSlides/notesSlide5.xml" Id="Rab565bd990b14e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733839823004912" /><Relationship Type="http://schemas.openxmlformats.org/officeDocument/2006/relationships/notesSlide" Target="/ppt/notesSlides/notesSlide6.xml" Id="Ra9de03b9181b4e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f08d672d534e9a" /><Relationship Type="http://schemas.openxmlformats.org/officeDocument/2006/relationships/notesSlide" Target="/ppt/notesSlides/notesSlide7.xml" Id="Rd38ba4fc43584f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f52e179e6c46bb" /><Relationship Type="http://schemas.openxmlformats.org/officeDocument/2006/relationships/notesSlide" Target="/ppt/notesSlides/notesSlide8.xml" Id="Rc86ddc0bec694c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e36c6589c34af0" /><Relationship Type="http://schemas.openxmlformats.org/officeDocument/2006/relationships/notesSlide" Target="/ppt/notesSlides/notesSlide9.xml" Id="Rddef3e000f8d4a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ce5fc1ca2ad440a" /><Relationship Type="http://schemas.openxmlformats.org/officeDocument/2006/relationships/notesSlide" Target="/ppt/notesSlides/notesSlide10.xml" Id="R600fc9ab49744b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66ea49cc6754c51" /><Relationship Type="http://schemas.openxmlformats.org/officeDocument/2006/relationships/notesSlide" Target="/ppt/notesSlides/notesSlide11.xml" Id="Re02321a1d6be4a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4d0941d297c4773" /><Relationship Type="http://schemas.openxmlformats.org/officeDocument/2006/relationships/notesSlide" Target="/ppt/notesSlides/notesSlide12.xml" Id="Rfb03daa7b170451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00b37ac2a3d4e14" /><Relationship Type="http://schemas.openxmlformats.org/officeDocument/2006/relationships/notesSlide" Target="/ppt/notesSlides/notesSlide13.xml" Id="Ra0795f5e82074d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a30784f588b4a50" /><Relationship Type="http://schemas.openxmlformats.org/officeDocument/2006/relationships/notesSlide" Target="/ppt/notesSlides/notesSlide14.xml" Id="R6606211e56af44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7e019f189fc4678" /><Relationship Type="http://schemas.openxmlformats.org/officeDocument/2006/relationships/notesSlide" Target="/ppt/notesSlides/notesSlide15.xml" Id="R9e80b277367e478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73bd1a977b64930" /><Relationship Type="http://schemas.openxmlformats.org/officeDocument/2006/relationships/notesSlide" Target="/ppt/notesSlides/notesSlide16.xml" Id="R6ada6a1d2a6b410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557aa422c194e9d" /><Relationship Type="http://schemas.openxmlformats.org/officeDocument/2006/relationships/notesSlide" Target="/ppt/notesSlides/notesSlide17.xml" Id="Ra44abc895a91444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b0de577369c4b38" /><Relationship Type="http://schemas.openxmlformats.org/officeDocument/2006/relationships/notesSlide" Target="/ppt/notesSlides/notesSlide18.xml" Id="R2b3f552ccfd84bc3" /></Relationships>
</file>

<file path=ppt/slides/slide1.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106FFF-651C-4608-A54B-B07EA3321D42}"/>
              </a:ext>
            </a:extLst>
          </p:cNvPr>
          <p:cNvSpPr>
            <a:spLocks xmlns:a="http://schemas.openxmlformats.org/drawingml/2006/main" noGrp="1"/>
          </p:cNvSpPr>
          <p:nvPr/>
        </p:nvSpPr>
        <p:spPr>
          <a:xfrm xmlns:a="http://schemas.openxmlformats.org/drawingml/2006/main">
            <a:off x="723900" y="819150"/>
            <a:ext cx="95250" cy="48577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2D64E82D-EC25-43C5-9E9B-3E0628CE83BC}"/>
              </a:ext>
            </a:extLst>
          </p:cNvPr>
          <p:cNvSpPr>
            <a:spLocks xmlns:a="http://schemas.openxmlformats.org/drawingml/2006/main" noGrp="1"/>
          </p:cNvSpPr>
          <p:nvPr/>
        </p:nvSpPr>
        <p:spPr>
          <a:xfrm xmlns:a="http://schemas.openxmlformats.org/drawingml/2006/main">
            <a:off x="1143000" y="1428750"/>
            <a:ext cx="9525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050" b="1">
                <a:solidFill>
                  <a:srgbClr val="FFFFFF"/>
                </a:solidFill>
              </a:defRPr>
            </a:pPr>
            <a:r>
              <a:rPr sz="4050" b="1">
                <a:solidFill>
                  <a:srgbClr val="FFFFFF"/>
                </a:solidFill>
              </a:rPr>
              <a:t>Inteligencia artificial aplicada a la enseñanza de idiomas</a:t>
            </a:r>
          </a:p>
        </p:txBody>
      </p:sp>
      <p:sp>
        <p:nvSpPr>
          <p:cNvPr id="3" name="subtitle">
            <a:extLst xmlns:a="http://schemas.openxmlformats.org/drawingml/2006/main">
              <a:ext uri="{FF2B5EF4-FFF2-40B4-BE49-F238E27FC236}">
                <a16:creationId xmlns:a16="http://schemas.microsoft.com/office/drawing/2014/main" id="{20030280-DEBB-4D2F-A33F-F3349B5E4451}"/>
              </a:ext>
            </a:extLst>
          </p:cNvPr>
          <p:cNvSpPr>
            <a:spLocks xmlns:a="http://schemas.openxmlformats.org/drawingml/2006/main" noGrp="1"/>
          </p:cNvSpPr>
          <p:nvPr/>
        </p:nvSpPr>
        <p:spPr>
          <a:xfrm xmlns:a="http://schemas.openxmlformats.org/drawingml/2006/main">
            <a:off x="1143000" y="352425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0">
                <a:solidFill>
                  <a:srgbClr val="6FB98F"/>
                </a:solidFill>
              </a:defRPr>
            </a:pPr>
            <a:r>
              <a:rPr sz="2175" b="0">
                <a:solidFill>
                  <a:srgbClr val="6FB98F"/>
                </a:solidFill>
              </a:rPr>
              <a:t>La herramienta propone. Usted decide.</a:t>
            </a:r>
          </a:p>
        </p:txBody>
      </p:sp>
      <p:sp>
        <p:nvSpPr>
          <p:cNvPr id="4" name="footer">
            <a:extLst xmlns:a="http://schemas.openxmlformats.org/drawingml/2006/main">
              <a:ext uri="{FF2B5EF4-FFF2-40B4-BE49-F238E27FC236}">
                <a16:creationId xmlns:a16="http://schemas.microsoft.com/office/drawing/2014/main" id="{2E854932-CFA9-45A6-B4CD-7CF5FB7F0CC0}"/>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5" name="number">
            <a:extLst xmlns:a="http://schemas.openxmlformats.org/drawingml/2006/main">
              <a:ext uri="{FF2B5EF4-FFF2-40B4-BE49-F238E27FC236}">
                <a16:creationId xmlns:a16="http://schemas.microsoft.com/office/drawing/2014/main" id="{603D3975-614C-4231-AE31-FA343FEA488F}"/>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01</a:t>
            </a:r>
          </a:p>
        </p:txBody>
      </p:sp>
    </p:spTree>
    <p:extLst>
      <p:ext uri="{BB962C8B-B14F-4D97-AF65-F5344CB8AC3E}">
        <p14:creationId xmlns:p14="http://schemas.microsoft.com/office/powerpoint/2010/main" val="1613091876"/>
      </p:ext>
    </p:extLst>
  </p:cSld>
</p:sld>
</file>

<file path=ppt/slides/slide2.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1A07508C-1ED2-4961-92C7-253AC3C3FD7B}"/>
              </a:ext>
            </a:extLst>
          </p:cNvPr>
          <p:cNvSpPr>
            <a:spLocks xmlns:a="http://schemas.openxmlformats.org/drawingml/2006/main" noGrp="1"/>
          </p:cNvSpPr>
          <p:nvPr/>
        </p:nvSpPr>
        <p:spPr>
          <a:xfrm xmlns:a="http://schemas.openxmlformats.org/drawingml/2006/main">
            <a:off x="723900" y="4572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1 · 1:30</a:t>
            </a:r>
          </a:p>
        </p:txBody>
      </p:sp>
      <p:sp>
        <p:nvSpPr>
          <p:cNvPr id="2" name="title">
            <a:extLst xmlns:a="http://schemas.openxmlformats.org/drawingml/2006/main">
              <a:ext uri="{FF2B5EF4-FFF2-40B4-BE49-F238E27FC236}">
                <a16:creationId xmlns:a16="http://schemas.microsoft.com/office/drawing/2014/main" id="{85398E22-75A4-4BE6-A7C1-A3AF26C6355B}"/>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¿Dónde está hoy su práctica?</a:t>
            </a:r>
          </a:p>
        </p:txBody>
      </p:sp>
      <p:sp>
        <p:nvSpPr>
          <p:cNvPr id="3" name="">
            <a:extLst xmlns:a="http://schemas.openxmlformats.org/drawingml/2006/main">
              <a:ext uri="{FF2B5EF4-FFF2-40B4-BE49-F238E27FC236}">
                <a16:creationId xmlns:a16="http://schemas.microsoft.com/office/drawing/2014/main" id="{57A8AC41-CAE8-4E41-8A8D-7652763A54CE}"/>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CA0C3791-9405-48AB-A2F5-163638ABBE24}"/>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Nunca la he usado · La he probado · La uso a veces · La uso semanalmente · La uso a diario</a:t>
            </a:r>
          </a:p>
        </p:txBody>
      </p:sp>
      <p:sp>
        <p:nvSpPr>
          <p:cNvPr id="5" name="footer">
            <a:extLst xmlns:a="http://schemas.openxmlformats.org/drawingml/2006/main">
              <a:ext uri="{FF2B5EF4-FFF2-40B4-BE49-F238E27FC236}">
                <a16:creationId xmlns:a16="http://schemas.microsoft.com/office/drawing/2014/main" id="{B3C15E82-5C2D-4F12-9CF5-ECFEF49438D8}"/>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B4F1B89A-78A4-43F4-A5AE-3D653CFD9F31}"/>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02</a:t>
            </a:r>
          </a:p>
        </p:txBody>
      </p:sp>
    </p:spTree>
    <p:extLst>
      <p:ext uri="{BB962C8B-B14F-4D97-AF65-F5344CB8AC3E}">
        <p14:creationId xmlns:p14="http://schemas.microsoft.com/office/powerpoint/2010/main" val="1304612848"/>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1BF509-5A42-433D-ACAC-49DE9069228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1364E205-4517-47C2-80B7-5A2DAC7C591C}"/>
              </a:ext>
            </a:extLst>
          </p:cNvPr>
          <p:cNvSpPr>
            <a:spLocks xmlns:a="http://schemas.openxmlformats.org/drawingml/2006/main" noGrp="1"/>
          </p:cNvSpPr>
          <p:nvPr/>
        </p:nvSpPr>
        <p:spPr>
          <a:xfrm xmlns:a="http://schemas.openxmlformats.org/drawingml/2006/main">
            <a:off x="723900" y="4953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1 · 3:30</a:t>
            </a:r>
          </a:p>
        </p:txBody>
      </p:sp>
      <p:sp>
        <p:nvSpPr>
          <p:cNvPr id="3" name="title">
            <a:extLst xmlns:a="http://schemas.openxmlformats.org/drawingml/2006/main">
              <a:ext uri="{FF2B5EF4-FFF2-40B4-BE49-F238E27FC236}">
                <a16:creationId xmlns:a16="http://schemas.microsoft.com/office/drawing/2014/main" id="{560DB78B-2685-4B98-BE3E-8E2BA31C674F}"/>
              </a:ext>
            </a:extLst>
          </p:cNvPr>
          <p:cNvSpPr>
            <a:spLocks xmlns:a="http://schemas.openxmlformats.org/drawingml/2006/main" noGrp="1"/>
          </p:cNvSpPr>
          <p:nvPr/>
        </p:nvSpPr>
        <p:spPr>
          <a:xfrm xmlns:a="http://schemas.openxmlformats.org/drawingml/2006/main">
            <a:off x="723900" y="1000125"/>
            <a:ext cx="723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Una salida fluida no es una salida verificada</a:t>
            </a:r>
          </a:p>
        </p:txBody>
      </p:sp>
      <p:sp>
        <p:nvSpPr>
          <p:cNvPr id="4" name="body">
            <a:extLst xmlns:a="http://schemas.openxmlformats.org/drawingml/2006/main">
              <a:ext uri="{FF2B5EF4-FFF2-40B4-BE49-F238E27FC236}">
                <a16:creationId xmlns:a16="http://schemas.microsoft.com/office/drawing/2014/main" id="{CF7ACF55-8242-4D4A-A47D-63329D3C0F0C}"/>
              </a:ext>
            </a:extLst>
          </p:cNvPr>
          <p:cNvSpPr>
            <a:spLocks xmlns:a="http://schemas.openxmlformats.org/drawingml/2006/main" noGrp="1"/>
          </p:cNvSpPr>
          <p:nvPr/>
        </p:nvSpPr>
        <p:spPr>
          <a:xfrm xmlns:a="http://schemas.openxmlformats.org/drawingml/2006/main">
            <a:off x="4000500" y="2381250"/>
            <a:ext cx="714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Puede sonar correcta y aun así inventar, complacer o salir del nivel solicitado.</a:t>
            </a:r>
          </a:p>
        </p:txBody>
      </p:sp>
      <p:sp>
        <p:nvSpPr>
          <p:cNvPr id="5" name="">
            <a:extLst xmlns:a="http://schemas.openxmlformats.org/drawingml/2006/main">
              <a:ext uri="{FF2B5EF4-FFF2-40B4-BE49-F238E27FC236}">
                <a16:creationId xmlns:a16="http://schemas.microsoft.com/office/drawing/2014/main" id="{652FAA35-B784-4084-83FD-840D5854872E}"/>
              </a:ext>
            </a:extLst>
          </p:cNvPr>
          <p:cNvSpPr>
            <a:spLocks xmlns:a="http://schemas.openxmlformats.org/drawingml/2006/main" noGrp="1"/>
          </p:cNvSpPr>
          <p:nvPr/>
        </p:nvSpPr>
        <p:spPr>
          <a:xfrm xmlns:a="http://schemas.openxmlformats.org/drawingml/2006/main">
            <a:off x="723900" y="2381250"/>
            <a:ext cx="2667000" cy="266700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247F491-7687-4DFE-9342-3E325B01E9D8}"/>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7" name="number">
            <a:extLst xmlns:a="http://schemas.openxmlformats.org/drawingml/2006/main">
              <a:ext uri="{FF2B5EF4-FFF2-40B4-BE49-F238E27FC236}">
                <a16:creationId xmlns:a16="http://schemas.microsoft.com/office/drawing/2014/main" id="{F309B302-2602-4702-86EC-D6C18D536ABE}"/>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03</a:t>
            </a:r>
          </a:p>
        </p:txBody>
      </p:sp>
    </p:spTree>
    <p:extLst>
      <p:ext uri="{BB962C8B-B14F-4D97-AF65-F5344CB8AC3E}">
        <p14:creationId xmlns:p14="http://schemas.microsoft.com/office/powerpoint/2010/main" val="140153675"/>
      </p:ext>
    </p:extLst>
  </p:cSld>
</p:sld>
</file>

<file path=ppt/slides/slide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73BED4-0EC6-4E43-972F-79AF7242D46F}"/>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F6049471-DF1D-4E83-97B2-4FCC0FFFEAE6}"/>
              </a:ext>
            </a:extLst>
          </p:cNvPr>
          <p:cNvSpPr>
            <a:spLocks xmlns:a="http://schemas.openxmlformats.org/drawingml/2006/main" noGrp="1"/>
          </p:cNvSpPr>
          <p:nvPr/>
        </p:nvSpPr>
        <p:spPr>
          <a:xfrm xmlns:a="http://schemas.openxmlformats.org/drawingml/2006/main">
            <a:off x="723900" y="4953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1 · 6:00</a:t>
            </a:r>
          </a:p>
        </p:txBody>
      </p:sp>
      <p:sp>
        <p:nvSpPr>
          <p:cNvPr id="3" name="title">
            <a:extLst xmlns:a="http://schemas.openxmlformats.org/drawingml/2006/main">
              <a:ext uri="{FF2B5EF4-FFF2-40B4-BE49-F238E27FC236}">
                <a16:creationId xmlns:a16="http://schemas.microsoft.com/office/drawing/2014/main" id="{E1A43D10-99B9-4297-B18E-2A899F0FA543}"/>
              </a:ext>
            </a:extLst>
          </p:cNvPr>
          <p:cNvSpPr>
            <a:spLocks xmlns:a="http://schemas.openxmlformats.org/drawingml/2006/main" noGrp="1"/>
          </p:cNvSpPr>
          <p:nvPr/>
        </p:nvSpPr>
        <p:spPr>
          <a:xfrm xmlns:a="http://schemas.openxmlformats.org/drawingml/2006/main">
            <a:off x="723900" y="95250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El modelo continúa patrones; no consulta una verdad interna</a:t>
            </a:r>
          </a:p>
        </p:txBody>
      </p:sp>
      <p:sp>
        <p:nvSpPr>
          <p:cNvPr id="4" name="body">
            <a:extLst xmlns:a="http://schemas.openxmlformats.org/drawingml/2006/main">
              <a:ext uri="{FF2B5EF4-FFF2-40B4-BE49-F238E27FC236}">
                <a16:creationId xmlns:a16="http://schemas.microsoft.com/office/drawing/2014/main" id="{E691CAAC-66F2-4D63-A8D0-F410685FB6BA}"/>
              </a:ext>
            </a:extLst>
          </p:cNvPr>
          <p:cNvSpPr>
            <a:spLocks xmlns:a="http://schemas.openxmlformats.org/drawingml/2006/main" noGrp="1"/>
          </p:cNvSpPr>
          <p:nvPr/>
        </p:nvSpPr>
        <p:spPr>
          <a:xfrm xmlns:a="http://schemas.openxmlformats.org/drawingml/2006/main">
            <a:off x="723900" y="2238375"/>
            <a:ext cx="1028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Predice continuaciones plausibles. La plausibilidad no garantiza exactitud, nivel ni pertinencia pedagógica.</a:t>
            </a:r>
          </a:p>
        </p:txBody>
      </p:sp>
      <p:sp>
        <p:nvSpPr>
          <p:cNvPr id="5" name="footer">
            <a:extLst xmlns:a="http://schemas.openxmlformats.org/drawingml/2006/main">
              <a:ext uri="{FF2B5EF4-FFF2-40B4-BE49-F238E27FC236}">
                <a16:creationId xmlns:a16="http://schemas.microsoft.com/office/drawing/2014/main" id="{9337D149-BBF4-410F-B68A-B06DB33D9A4F}"/>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62A4E077-FC20-4F15-BE24-33ABF4ABEFCE}"/>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04</a:t>
            </a:r>
          </a:p>
        </p:txBody>
      </p:sp>
    </p:spTree>
    <p:extLst>
      <p:ext uri="{BB962C8B-B14F-4D97-AF65-F5344CB8AC3E}">
        <p14:creationId xmlns:p14="http://schemas.microsoft.com/office/powerpoint/2010/main" val="2123360885"/>
      </p:ext>
    </p:extLst>
  </p:cSld>
</p:sld>
</file>

<file path=ppt/slides/slide5.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BED07ECE-4113-4A94-BD6B-0BBB9564F83D}"/>
              </a:ext>
            </a:extLst>
          </p:cNvPr>
          <p:cNvSpPr>
            <a:spLocks xmlns:a="http://schemas.openxmlformats.org/drawingml/2006/main" noGrp="1"/>
          </p:cNvSpPr>
          <p:nvPr/>
        </p:nvSpPr>
        <p:spPr>
          <a:xfrm xmlns:a="http://schemas.openxmlformats.org/drawingml/2006/main">
            <a:off x="723900" y="4572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1 · 9:00</a:t>
            </a:r>
          </a:p>
        </p:txBody>
      </p:sp>
      <p:sp>
        <p:nvSpPr>
          <p:cNvPr id="2" name="title">
            <a:extLst xmlns:a="http://schemas.openxmlformats.org/drawingml/2006/main">
              <a:ext uri="{FF2B5EF4-FFF2-40B4-BE49-F238E27FC236}">
                <a16:creationId xmlns:a16="http://schemas.microsoft.com/office/drawing/2014/main" id="{01E4D42D-211D-4066-AB15-483960248504}"/>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Automatice volumen; no delegue el juicio</a:t>
            </a:r>
          </a:p>
        </p:txBody>
      </p:sp>
      <p:sp>
        <p:nvSpPr>
          <p:cNvPr id="3" name="">
            <a:extLst xmlns:a="http://schemas.openxmlformats.org/drawingml/2006/main">
              <a:ext uri="{FF2B5EF4-FFF2-40B4-BE49-F238E27FC236}">
                <a16:creationId xmlns:a16="http://schemas.microsoft.com/office/drawing/2014/main" id="{9416FF5D-DC43-494C-AFB3-67552CAB6F16}"/>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DC3E06F4-9996-4FCF-A660-E49656A88DDE}"/>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Automatizar: variantes y formato</a:t>
            </a:r>
          </a:p>
          <a:p xmlns:a="http://schemas.openxmlformats.org/drawingml/2006/main">
            <a:pPr algn="l">
              <a:defRPr sz="2475" b="0">
                <a:solidFill>
                  <a:srgbClr val="FFFFFF"/>
                </a:solidFill>
              </a:defRPr>
            </a:pPr>
            <a:r>
              <a:rPr sz="2475" b="0">
                <a:solidFill>
                  <a:srgbClr val="FFFFFF"/>
                </a:solidFill>
              </a:rPr>
              <a:t>Apoyar: práctica y retroalimentación</a:t>
            </a:r>
          </a:p>
          <a:p xmlns:a="http://schemas.openxmlformats.org/drawingml/2006/main">
            <a:pPr algn="l">
              <a:defRPr sz="2475" b="0">
                <a:solidFill>
                  <a:srgbClr val="FFFFFF"/>
                </a:solidFill>
              </a:defRPr>
            </a:pPr>
            <a:r>
              <a:rPr sz="2475" b="0">
                <a:solidFill>
                  <a:srgbClr val="FFFFFF"/>
                </a:solidFill>
              </a:rPr>
              <a:t>No delegar: decisiones, notas y datos sensibles</a:t>
            </a:r>
          </a:p>
        </p:txBody>
      </p:sp>
      <p:sp>
        <p:nvSpPr>
          <p:cNvPr id="5" name="footer">
            <a:extLst xmlns:a="http://schemas.openxmlformats.org/drawingml/2006/main">
              <a:ext uri="{FF2B5EF4-FFF2-40B4-BE49-F238E27FC236}">
                <a16:creationId xmlns:a16="http://schemas.microsoft.com/office/drawing/2014/main" id="{121161D6-7BFA-4A5B-B8DF-886845E7294F}"/>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F862EF9E-D3BA-4BA8-B619-3942C8ABC16F}"/>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05</a:t>
            </a:r>
          </a:p>
        </p:txBody>
      </p:sp>
    </p:spTree>
    <p:extLst>
      <p:ext uri="{BB962C8B-B14F-4D97-AF65-F5344CB8AC3E}">
        <p14:creationId xmlns:p14="http://schemas.microsoft.com/office/powerpoint/2010/main" val="1105594221"/>
      </p:ext>
    </p:extLst>
  </p:cSld>
</p:sld>
</file>

<file path=ppt/slides/slide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AEF682-A2FC-47B9-AF04-170B2873A44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8E69EFA6-2182-4EF9-9A04-7C4402A8A937}"/>
              </a:ext>
            </a:extLst>
          </p:cNvPr>
          <p:cNvSpPr>
            <a:spLocks xmlns:a="http://schemas.openxmlformats.org/drawingml/2006/main" noGrp="1"/>
          </p:cNvSpPr>
          <p:nvPr/>
        </p:nvSpPr>
        <p:spPr>
          <a:xfrm xmlns:a="http://schemas.openxmlformats.org/drawingml/2006/main">
            <a:off x="723900" y="4953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1 · 12:00</a:t>
            </a:r>
          </a:p>
        </p:txBody>
      </p:sp>
      <p:sp>
        <p:nvSpPr>
          <p:cNvPr id="3" name="title">
            <a:extLst xmlns:a="http://schemas.openxmlformats.org/drawingml/2006/main">
              <a:ext uri="{FF2B5EF4-FFF2-40B4-BE49-F238E27FC236}">
                <a16:creationId xmlns:a16="http://schemas.microsoft.com/office/drawing/2014/main" id="{4D0DE747-BC10-46C3-B6AC-177AA9355061}"/>
              </a:ext>
            </a:extLst>
          </p:cNvPr>
          <p:cNvSpPr>
            <a:spLocks xmlns:a="http://schemas.openxmlformats.org/drawingml/2006/main" noGrp="1"/>
          </p:cNvSpPr>
          <p:nvPr/>
        </p:nvSpPr>
        <p:spPr>
          <a:xfrm xmlns:a="http://schemas.openxmlformats.org/drawingml/2006/main">
            <a:off x="723900" y="1000125"/>
            <a:ext cx="723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Antes de abrir la herramienta, cierre cinco decisiones</a:t>
            </a:r>
          </a:p>
        </p:txBody>
      </p:sp>
      <p:sp>
        <p:nvSpPr>
          <p:cNvPr id="4" name="body">
            <a:extLst xmlns:a="http://schemas.openxmlformats.org/drawingml/2006/main">
              <a:ext uri="{FF2B5EF4-FFF2-40B4-BE49-F238E27FC236}">
                <a16:creationId xmlns:a16="http://schemas.microsoft.com/office/drawing/2014/main" id="{F816E8F6-C5C9-4D00-AE62-F8937822F15E}"/>
              </a:ext>
            </a:extLst>
          </p:cNvPr>
          <p:cNvSpPr>
            <a:spLocks xmlns:a="http://schemas.openxmlformats.org/drawingml/2006/main" noGrp="1"/>
          </p:cNvSpPr>
          <p:nvPr/>
        </p:nvSpPr>
        <p:spPr>
          <a:xfrm xmlns:a="http://schemas.openxmlformats.org/drawingml/2006/main">
            <a:off x="4000500" y="2381250"/>
            <a:ext cx="714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Rol y objetivo · Nivel y destreza · Contexto ocupacional · Formato exacto · Restricciones</a:t>
            </a:r>
          </a:p>
        </p:txBody>
      </p:sp>
      <p:sp>
        <p:nvSpPr>
          <p:cNvPr id="5" name="">
            <a:extLst xmlns:a="http://schemas.openxmlformats.org/drawingml/2006/main">
              <a:ext uri="{FF2B5EF4-FFF2-40B4-BE49-F238E27FC236}">
                <a16:creationId xmlns:a16="http://schemas.microsoft.com/office/drawing/2014/main" id="{022F2D69-3661-4D62-AA21-49985A2E1ACC}"/>
              </a:ext>
            </a:extLst>
          </p:cNvPr>
          <p:cNvSpPr>
            <a:spLocks xmlns:a="http://schemas.openxmlformats.org/drawingml/2006/main" noGrp="1"/>
          </p:cNvSpPr>
          <p:nvPr/>
        </p:nvSpPr>
        <p:spPr>
          <a:xfrm xmlns:a="http://schemas.openxmlformats.org/drawingml/2006/main">
            <a:off x="723900" y="2381250"/>
            <a:ext cx="2667000" cy="266700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E70B1584-1BA2-4C44-91DA-1CDFC2BEC785}"/>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7" name="number">
            <a:extLst xmlns:a="http://schemas.openxmlformats.org/drawingml/2006/main">
              <a:ext uri="{FF2B5EF4-FFF2-40B4-BE49-F238E27FC236}">
                <a16:creationId xmlns:a16="http://schemas.microsoft.com/office/drawing/2014/main" id="{F6D63CFF-4A78-46D6-9924-EB60C456EA24}"/>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06</a:t>
            </a:r>
          </a:p>
        </p:txBody>
      </p:sp>
    </p:spTree>
    <p:extLst>
      <p:ext uri="{BB962C8B-B14F-4D97-AF65-F5344CB8AC3E}">
        <p14:creationId xmlns:p14="http://schemas.microsoft.com/office/powerpoint/2010/main" val="483609671"/>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CD67EF-7C4F-4D51-B31F-997EE7DE17B6}"/>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FCA0F99A-2899-4D3F-95EA-99F462A39EFE}"/>
              </a:ext>
            </a:extLst>
          </p:cNvPr>
          <p:cNvSpPr>
            <a:spLocks xmlns:a="http://schemas.openxmlformats.org/drawingml/2006/main" noGrp="1"/>
          </p:cNvSpPr>
          <p:nvPr/>
        </p:nvSpPr>
        <p:spPr>
          <a:xfrm xmlns:a="http://schemas.openxmlformats.org/drawingml/2006/main">
            <a:off x="723900" y="4953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1 · 15:00</a:t>
            </a:r>
          </a:p>
        </p:txBody>
      </p:sp>
      <p:sp>
        <p:nvSpPr>
          <p:cNvPr id="3" name="title">
            <a:extLst xmlns:a="http://schemas.openxmlformats.org/drawingml/2006/main">
              <a:ext uri="{FF2B5EF4-FFF2-40B4-BE49-F238E27FC236}">
                <a16:creationId xmlns:a16="http://schemas.microsoft.com/office/drawing/2014/main" id="{C0BAEE16-92E8-4F0B-8C92-985B5DAE23AE}"/>
              </a:ext>
            </a:extLst>
          </p:cNvPr>
          <p:cNvSpPr>
            <a:spLocks xmlns:a="http://schemas.openxmlformats.org/drawingml/2006/main" noGrp="1"/>
          </p:cNvSpPr>
          <p:nvPr/>
        </p:nvSpPr>
        <p:spPr>
          <a:xfrm xmlns:a="http://schemas.openxmlformats.org/drawingml/2006/main">
            <a:off x="723900" y="95250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La regla de datos aparece antes de cada uso</a:t>
            </a:r>
          </a:p>
        </p:txBody>
      </p:sp>
      <p:sp>
        <p:nvSpPr>
          <p:cNvPr id="4" name="body">
            <a:extLst xmlns:a="http://schemas.openxmlformats.org/drawingml/2006/main">
              <a:ext uri="{FF2B5EF4-FFF2-40B4-BE49-F238E27FC236}">
                <a16:creationId xmlns:a16="http://schemas.microsoft.com/office/drawing/2014/main" id="{1E2DA3D4-C772-43FE-B2B9-A7386563478E}"/>
              </a:ext>
            </a:extLst>
          </p:cNvPr>
          <p:cNvSpPr>
            <a:spLocks xmlns:a="http://schemas.openxmlformats.org/drawingml/2006/main" noGrp="1"/>
          </p:cNvSpPr>
          <p:nvPr/>
        </p:nvSpPr>
        <p:spPr>
          <a:xfrm xmlns:a="http://schemas.openxmlformats.org/drawingml/2006/main">
            <a:off x="723900" y="2238375"/>
            <a:ext cx="1028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No ingrese nombres, cédulas, calificaciones, grabaciones ni datos identificables de estudiantes.</a:t>
            </a:r>
          </a:p>
        </p:txBody>
      </p:sp>
      <p:sp>
        <p:nvSpPr>
          <p:cNvPr id="5" name="footer">
            <a:extLst xmlns:a="http://schemas.openxmlformats.org/drawingml/2006/main">
              <a:ext uri="{FF2B5EF4-FFF2-40B4-BE49-F238E27FC236}">
                <a16:creationId xmlns:a16="http://schemas.microsoft.com/office/drawing/2014/main" id="{5A79DE2E-7861-406E-825E-0DC860EDE6EF}"/>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98431E47-FD3A-4963-B932-E99EE1417922}"/>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07</a:t>
            </a:r>
          </a:p>
        </p:txBody>
      </p:sp>
    </p:spTree>
    <p:extLst>
      <p:ext uri="{BB962C8B-B14F-4D97-AF65-F5344CB8AC3E}">
        <p14:creationId xmlns:p14="http://schemas.microsoft.com/office/powerpoint/2010/main" val="1064385220"/>
      </p:ext>
    </p:extLst>
  </p:cSld>
</p:sld>
</file>

<file path=ppt/slides/slide8.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48804189-392D-4A5C-9BDD-DE3C0416E53A}"/>
              </a:ext>
            </a:extLst>
          </p:cNvPr>
          <p:cNvSpPr>
            <a:spLocks xmlns:a="http://schemas.openxmlformats.org/drawingml/2006/main" noGrp="1"/>
          </p:cNvSpPr>
          <p:nvPr/>
        </p:nvSpPr>
        <p:spPr>
          <a:xfrm xmlns:a="http://schemas.openxmlformats.org/drawingml/2006/main">
            <a:off x="723900" y="4572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1 · 17:00</a:t>
            </a:r>
          </a:p>
        </p:txBody>
      </p:sp>
      <p:sp>
        <p:nvSpPr>
          <p:cNvPr id="2" name="title">
            <a:extLst xmlns:a="http://schemas.openxmlformats.org/drawingml/2006/main">
              <a:ext uri="{FF2B5EF4-FFF2-40B4-BE49-F238E27FC236}">
                <a16:creationId xmlns:a16="http://schemas.microsoft.com/office/drawing/2014/main" id="{931C5ACA-FCB0-4567-B3CB-7FBB326914EC}"/>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Sondeo: ¿qué no debe ingresar?</a:t>
            </a:r>
          </a:p>
        </p:txBody>
      </p:sp>
      <p:sp>
        <p:nvSpPr>
          <p:cNvPr id="3" name="">
            <a:extLst xmlns:a="http://schemas.openxmlformats.org/drawingml/2006/main">
              <a:ext uri="{FF2B5EF4-FFF2-40B4-BE49-F238E27FC236}">
                <a16:creationId xmlns:a16="http://schemas.microsoft.com/office/drawing/2014/main" id="{BE2C4595-583C-465B-A668-C3EC76B7A11F}"/>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5643E999-20A3-4E65-AE75-8E2C3C9A6BAE}"/>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A. Objetivo A2 ficticio</a:t>
            </a:r>
          </a:p>
          <a:p xmlns:a="http://schemas.openxmlformats.org/drawingml/2006/main">
            <a:pPr algn="l">
              <a:defRPr sz="2475" b="0">
                <a:solidFill>
                  <a:srgbClr val="FFFFFF"/>
                </a:solidFill>
              </a:defRPr>
            </a:pPr>
            <a:r>
              <a:rPr sz="2475" b="0">
                <a:solidFill>
                  <a:srgbClr val="FFFFFF"/>
                </a:solidFill>
              </a:rPr>
              <a:t>B. Texto sintético</a:t>
            </a:r>
          </a:p>
          <a:p xmlns:a="http://schemas.openxmlformats.org/drawingml/2006/main">
            <a:pPr algn="l">
              <a:defRPr sz="2475" b="0">
                <a:solidFill>
                  <a:srgbClr val="FFFFFF"/>
                </a:solidFill>
              </a:defRPr>
            </a:pPr>
            <a:r>
              <a:rPr sz="2475" b="0">
                <a:solidFill>
                  <a:srgbClr val="FFFFFF"/>
                </a:solidFill>
              </a:rPr>
              <a:t>C. Grabación de estudiante</a:t>
            </a:r>
          </a:p>
          <a:p xmlns:a="http://schemas.openxmlformats.org/drawingml/2006/main">
            <a:pPr algn="l">
              <a:defRPr sz="2475" b="0">
                <a:solidFill>
                  <a:srgbClr val="FFFFFF"/>
                </a:solidFill>
              </a:defRPr>
            </a:pPr>
            <a:r>
              <a:rPr sz="2475" b="0">
                <a:solidFill>
                  <a:srgbClr val="FFFFFF"/>
                </a:solidFill>
              </a:rPr>
              <a:t>D. Contexto ocupacional general</a:t>
            </a:r>
          </a:p>
        </p:txBody>
      </p:sp>
      <p:sp>
        <p:nvSpPr>
          <p:cNvPr id="5" name="footer">
            <a:extLst xmlns:a="http://schemas.openxmlformats.org/drawingml/2006/main">
              <a:ext uri="{FF2B5EF4-FFF2-40B4-BE49-F238E27FC236}">
                <a16:creationId xmlns:a16="http://schemas.microsoft.com/office/drawing/2014/main" id="{12000500-0A81-4B09-A12C-02C6228D0075}"/>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3F9F0EA8-FAB1-4840-93CB-1CD63D0E2727}"/>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08</a:t>
            </a:r>
          </a:p>
        </p:txBody>
      </p:sp>
    </p:spTree>
    <p:extLst>
      <p:ext uri="{BB962C8B-B14F-4D97-AF65-F5344CB8AC3E}">
        <p14:creationId xmlns:p14="http://schemas.microsoft.com/office/powerpoint/2010/main" val="1190606538"/>
      </p:ext>
    </p:extLst>
  </p:cSld>
</p:sld>
</file>

<file path=ppt/slides/slide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45ACD0-82BC-45B3-9A11-0C750E220F0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4CA46F81-4523-4BF8-909B-CF1168DE7771}"/>
              </a:ext>
            </a:extLst>
          </p:cNvPr>
          <p:cNvSpPr>
            <a:spLocks xmlns:a="http://schemas.openxmlformats.org/drawingml/2006/main" noGrp="1"/>
          </p:cNvSpPr>
          <p:nvPr/>
        </p:nvSpPr>
        <p:spPr>
          <a:xfrm xmlns:a="http://schemas.openxmlformats.org/drawingml/2006/main">
            <a:off x="723900" y="4953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1 · 18:00</a:t>
            </a:r>
          </a:p>
        </p:txBody>
      </p:sp>
      <p:sp>
        <p:nvSpPr>
          <p:cNvPr id="3" name="title">
            <a:extLst xmlns:a="http://schemas.openxmlformats.org/drawingml/2006/main">
              <a:ext uri="{FF2B5EF4-FFF2-40B4-BE49-F238E27FC236}">
                <a16:creationId xmlns:a16="http://schemas.microsoft.com/office/drawing/2014/main" id="{3C76B8B2-FC6F-4542-89DE-15DE5E96528C}"/>
              </a:ext>
            </a:extLst>
          </p:cNvPr>
          <p:cNvSpPr>
            <a:spLocks xmlns:a="http://schemas.openxmlformats.org/drawingml/2006/main" noGrp="1"/>
          </p:cNvSpPr>
          <p:nvPr/>
        </p:nvSpPr>
        <p:spPr>
          <a:xfrm xmlns:a="http://schemas.openxmlformats.org/drawingml/2006/main">
            <a:off x="723900" y="1000125"/>
            <a:ext cx="723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Tres herramientas, tres pruebas distintas</a:t>
            </a:r>
          </a:p>
        </p:txBody>
      </p:sp>
      <p:sp>
        <p:nvSpPr>
          <p:cNvPr id="4" name="body">
            <a:extLst xmlns:a="http://schemas.openxmlformats.org/drawingml/2006/main">
              <a:ext uri="{FF2B5EF4-FFF2-40B4-BE49-F238E27FC236}">
                <a16:creationId xmlns:a16="http://schemas.microsoft.com/office/drawing/2014/main" id="{B9997990-A56C-42CB-A830-20CAA99F470B}"/>
              </a:ext>
            </a:extLst>
          </p:cNvPr>
          <p:cNvSpPr>
            <a:spLocks xmlns:a="http://schemas.openxmlformats.org/drawingml/2006/main" noGrp="1"/>
          </p:cNvSpPr>
          <p:nvPr/>
        </p:nvSpPr>
        <p:spPr>
          <a:xfrm xmlns:a="http://schemas.openxmlformats.org/drawingml/2006/main">
            <a:off x="4000500" y="2381250"/>
            <a:ext cx="714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ChatGPT: conversación por nivel</a:t>
            </a:r>
          </a:p>
          <a:p xmlns:a="http://schemas.openxmlformats.org/drawingml/2006/main">
            <a:pPr algn="l">
              <a:defRPr sz="2400" b="0">
                <a:solidFill>
                  <a:srgbClr val="17242E"/>
                </a:solidFill>
              </a:defRPr>
            </a:pPr>
            <a:r>
              <a:rPr sz="2400" b="0">
                <a:solidFill>
                  <a:srgbClr val="17242E"/>
                </a:solidFill>
              </a:rPr>
              <a:t>Claude: retroalimentación oral</a:t>
            </a:r>
          </a:p>
          <a:p xmlns:a="http://schemas.openxmlformats.org/drawingml/2006/main">
            <a:pPr algn="l">
              <a:defRPr sz="2400" b="0">
                <a:solidFill>
                  <a:srgbClr val="17242E"/>
                </a:solidFill>
              </a:defRPr>
            </a:pPr>
            <a:r>
              <a:rPr sz="2400" b="0">
                <a:solidFill>
                  <a:srgbClr val="17242E"/>
                </a:solidFill>
              </a:rPr>
              <a:t>Gemini: situación ocupacional</a:t>
            </a:r>
          </a:p>
        </p:txBody>
      </p:sp>
      <p:sp>
        <p:nvSpPr>
          <p:cNvPr id="5" name="">
            <a:extLst xmlns:a="http://schemas.openxmlformats.org/drawingml/2006/main">
              <a:ext uri="{FF2B5EF4-FFF2-40B4-BE49-F238E27FC236}">
                <a16:creationId xmlns:a16="http://schemas.microsoft.com/office/drawing/2014/main" id="{BF5A680A-870A-4594-A31A-CC0EB11723A0}"/>
              </a:ext>
            </a:extLst>
          </p:cNvPr>
          <p:cNvSpPr>
            <a:spLocks xmlns:a="http://schemas.openxmlformats.org/drawingml/2006/main" noGrp="1"/>
          </p:cNvSpPr>
          <p:nvPr/>
        </p:nvSpPr>
        <p:spPr>
          <a:xfrm xmlns:a="http://schemas.openxmlformats.org/drawingml/2006/main">
            <a:off x="723900" y="2381250"/>
            <a:ext cx="2667000" cy="266700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F2107D3D-76AE-4A20-9CBF-F9623172745A}"/>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7" name="number">
            <a:extLst xmlns:a="http://schemas.openxmlformats.org/drawingml/2006/main">
              <a:ext uri="{FF2B5EF4-FFF2-40B4-BE49-F238E27FC236}">
                <a16:creationId xmlns:a16="http://schemas.microsoft.com/office/drawing/2014/main" id="{2A7395C2-478C-40D1-8309-7B71A4C68137}"/>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09</a:t>
            </a:r>
          </a:p>
        </p:txBody>
      </p:sp>
    </p:spTree>
    <p:extLst>
      <p:ext uri="{BB962C8B-B14F-4D97-AF65-F5344CB8AC3E}">
        <p14:creationId xmlns:p14="http://schemas.microsoft.com/office/powerpoint/2010/main" val="407531459"/>
      </p:ext>
    </p:extLst>
  </p:cSld>
</p:sld>
</file>

<file path=ppt/slides/slide10.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639E98-0381-4AEF-88FD-4907DE4AB92B}"/>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55DD5122-E33B-4C07-9F5A-04BBEA56FA0E}"/>
              </a:ext>
            </a:extLst>
          </p:cNvPr>
          <p:cNvSpPr>
            <a:spLocks xmlns:a="http://schemas.openxmlformats.org/drawingml/2006/main" noGrp="1"/>
          </p:cNvSpPr>
          <p:nvPr/>
        </p:nvSpPr>
        <p:spPr>
          <a:xfrm xmlns:a="http://schemas.openxmlformats.org/drawingml/2006/main">
            <a:off x="723900" y="4953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1 · 19:00</a:t>
            </a:r>
          </a:p>
        </p:txBody>
      </p:sp>
      <p:sp>
        <p:nvSpPr>
          <p:cNvPr id="3" name="title">
            <a:extLst xmlns:a="http://schemas.openxmlformats.org/drawingml/2006/main">
              <a:ext uri="{FF2B5EF4-FFF2-40B4-BE49-F238E27FC236}">
                <a16:creationId xmlns:a16="http://schemas.microsoft.com/office/drawing/2014/main" id="{F03CA423-ACEC-405C-88FD-A92F144F8B6E}"/>
              </a:ext>
            </a:extLst>
          </p:cNvPr>
          <p:cNvSpPr>
            <a:spLocks xmlns:a="http://schemas.openxmlformats.org/drawingml/2006/main" noGrp="1"/>
          </p:cNvSpPr>
          <p:nvPr/>
        </p:nvSpPr>
        <p:spPr>
          <a:xfrm xmlns:a="http://schemas.openxmlformats.org/drawingml/2006/main">
            <a:off x="723900" y="95250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Prueba 1: ¿conserva realmente A2?</a:t>
            </a:r>
          </a:p>
        </p:txBody>
      </p:sp>
      <p:sp>
        <p:nvSpPr>
          <p:cNvPr id="4" name="body">
            <a:extLst xmlns:a="http://schemas.openxmlformats.org/drawingml/2006/main">
              <a:ext uri="{FF2B5EF4-FFF2-40B4-BE49-F238E27FC236}">
                <a16:creationId xmlns:a16="http://schemas.microsoft.com/office/drawing/2014/main" id="{58FC5B06-1367-4E01-8419-6C20BCAEE9A8}"/>
              </a:ext>
            </a:extLst>
          </p:cNvPr>
          <p:cNvSpPr>
            <a:spLocks xmlns:a="http://schemas.openxmlformats.org/drawingml/2006/main" noGrp="1"/>
          </p:cNvSpPr>
          <p:nvPr/>
        </p:nvSpPr>
        <p:spPr>
          <a:xfrm xmlns:a="http://schemas.openxmlformats.org/drawingml/2006/main">
            <a:off x="723900" y="2238375"/>
            <a:ext cx="1028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Una pregunta por turno · 12 palabras máximo · presente y pasado simple · espere siempre</a:t>
            </a:r>
          </a:p>
        </p:txBody>
      </p:sp>
      <p:sp>
        <p:nvSpPr>
          <p:cNvPr id="5" name="footer">
            <a:extLst xmlns:a="http://schemas.openxmlformats.org/drawingml/2006/main">
              <a:ext uri="{FF2B5EF4-FFF2-40B4-BE49-F238E27FC236}">
                <a16:creationId xmlns:a16="http://schemas.microsoft.com/office/drawing/2014/main" id="{E6164103-51DD-49DF-A524-E33986552E85}"/>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C6BE8656-C6B5-4B30-8668-0782733DBED6}"/>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10</a:t>
            </a:r>
          </a:p>
        </p:txBody>
      </p:sp>
    </p:spTree>
    <p:extLst>
      <p:ext uri="{BB962C8B-B14F-4D97-AF65-F5344CB8AC3E}">
        <p14:creationId xmlns:p14="http://schemas.microsoft.com/office/powerpoint/2010/main" val="2104435014"/>
      </p:ext>
    </p:extLst>
  </p:cSld>
</p:sld>
</file>

<file path=ppt/slides/slide11.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A389EA6E-4B4D-45F8-895A-DBA3FE4C10CA}"/>
              </a:ext>
            </a:extLst>
          </p:cNvPr>
          <p:cNvSpPr>
            <a:spLocks xmlns:a="http://schemas.openxmlformats.org/drawingml/2006/main" noGrp="1"/>
          </p:cNvSpPr>
          <p:nvPr/>
        </p:nvSpPr>
        <p:spPr>
          <a:xfrm xmlns:a="http://schemas.openxmlformats.org/drawingml/2006/main">
            <a:off x="723900" y="4572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1 · 23:00</a:t>
            </a:r>
          </a:p>
        </p:txBody>
      </p:sp>
      <p:sp>
        <p:nvSpPr>
          <p:cNvPr id="2" name="title">
            <a:extLst xmlns:a="http://schemas.openxmlformats.org/drawingml/2006/main">
              <a:ext uri="{FF2B5EF4-FFF2-40B4-BE49-F238E27FC236}">
                <a16:creationId xmlns:a16="http://schemas.microsoft.com/office/drawing/2014/main" id="{A549F28C-9B81-4847-86FD-89079C8861EB}"/>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Prueba 2: una prioridad, no una lista</a:t>
            </a:r>
          </a:p>
        </p:txBody>
      </p:sp>
      <p:sp>
        <p:nvSpPr>
          <p:cNvPr id="3" name="">
            <a:extLst xmlns:a="http://schemas.openxmlformats.org/drawingml/2006/main">
              <a:ext uri="{FF2B5EF4-FFF2-40B4-BE49-F238E27FC236}">
                <a16:creationId xmlns:a16="http://schemas.microsoft.com/office/drawing/2014/main" id="{387875F9-FE30-4D53-AAA7-D0F10F5CB56B}"/>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665EA586-40B8-4F9B-B2A0-321EDADD3931}"/>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Evidencia audible · una prioridad de inteligibilidad · una frase para repetir · incertidumbre explícita</a:t>
            </a:r>
          </a:p>
        </p:txBody>
      </p:sp>
      <p:sp>
        <p:nvSpPr>
          <p:cNvPr id="5" name="footer">
            <a:extLst xmlns:a="http://schemas.openxmlformats.org/drawingml/2006/main">
              <a:ext uri="{FF2B5EF4-FFF2-40B4-BE49-F238E27FC236}">
                <a16:creationId xmlns:a16="http://schemas.microsoft.com/office/drawing/2014/main" id="{A024E9B2-8D4D-4AFF-A45C-F469EEB368A6}"/>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D0E39523-97CF-425D-B22F-8BB5AF0CB3AD}"/>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11</a:t>
            </a:r>
          </a:p>
        </p:txBody>
      </p:sp>
    </p:spTree>
    <p:extLst>
      <p:ext uri="{BB962C8B-B14F-4D97-AF65-F5344CB8AC3E}">
        <p14:creationId xmlns:p14="http://schemas.microsoft.com/office/powerpoint/2010/main" val="1243107933"/>
      </p:ext>
    </p:extLst>
  </p:cSld>
</p:sld>
</file>

<file path=ppt/slides/slide1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3BC3D8-016C-4233-89E0-BD8AC7AC18F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62CFD7DB-2F14-4BD7-AA36-620212FB50C3}"/>
              </a:ext>
            </a:extLst>
          </p:cNvPr>
          <p:cNvSpPr>
            <a:spLocks xmlns:a="http://schemas.openxmlformats.org/drawingml/2006/main" noGrp="1"/>
          </p:cNvSpPr>
          <p:nvPr/>
        </p:nvSpPr>
        <p:spPr>
          <a:xfrm xmlns:a="http://schemas.openxmlformats.org/drawingml/2006/main">
            <a:off x="723900" y="4953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1 · 27:00</a:t>
            </a:r>
          </a:p>
        </p:txBody>
      </p:sp>
      <p:sp>
        <p:nvSpPr>
          <p:cNvPr id="3" name="title">
            <a:extLst xmlns:a="http://schemas.openxmlformats.org/drawingml/2006/main">
              <a:ext uri="{FF2B5EF4-FFF2-40B4-BE49-F238E27FC236}">
                <a16:creationId xmlns:a16="http://schemas.microsoft.com/office/drawing/2014/main" id="{64FF355D-BF93-44D2-B179-014C7F26D596}"/>
              </a:ext>
            </a:extLst>
          </p:cNvPr>
          <p:cNvSpPr>
            <a:spLocks xmlns:a="http://schemas.openxmlformats.org/drawingml/2006/main" noGrp="1"/>
          </p:cNvSpPr>
          <p:nvPr/>
        </p:nvSpPr>
        <p:spPr>
          <a:xfrm xmlns:a="http://schemas.openxmlformats.org/drawingml/2006/main">
            <a:off x="723900" y="1000125"/>
            <a:ext cx="723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Prueba 3: el papel debe sobrevivir la conversación</a:t>
            </a:r>
          </a:p>
        </p:txBody>
      </p:sp>
      <p:sp>
        <p:nvSpPr>
          <p:cNvPr id="4" name="body">
            <a:extLst xmlns:a="http://schemas.openxmlformats.org/drawingml/2006/main">
              <a:ext uri="{FF2B5EF4-FFF2-40B4-BE49-F238E27FC236}">
                <a16:creationId xmlns:a16="http://schemas.microsoft.com/office/drawing/2014/main" id="{C433E70C-D532-4728-A401-FF6900F4772A}"/>
              </a:ext>
            </a:extLst>
          </p:cNvPr>
          <p:cNvSpPr>
            <a:spLocks xmlns:a="http://schemas.openxmlformats.org/drawingml/2006/main" noGrp="1"/>
          </p:cNvSpPr>
          <p:nvPr/>
        </p:nvSpPr>
        <p:spPr>
          <a:xfrm xmlns:a="http://schemas.openxmlformats.org/drawingml/2006/main">
            <a:off x="4000500" y="2381250"/>
            <a:ext cx="714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Cliente ficticio · contexto costarricense · sin precios reales · cuatro turnos · cierre verificable</a:t>
            </a:r>
          </a:p>
        </p:txBody>
      </p:sp>
      <p:sp>
        <p:nvSpPr>
          <p:cNvPr id="5" name="">
            <a:extLst xmlns:a="http://schemas.openxmlformats.org/drawingml/2006/main">
              <a:ext uri="{FF2B5EF4-FFF2-40B4-BE49-F238E27FC236}">
                <a16:creationId xmlns:a16="http://schemas.microsoft.com/office/drawing/2014/main" id="{1915FB14-8695-4EC6-B06E-564B19B3D81A}"/>
              </a:ext>
            </a:extLst>
          </p:cNvPr>
          <p:cNvSpPr>
            <a:spLocks xmlns:a="http://schemas.openxmlformats.org/drawingml/2006/main" noGrp="1"/>
          </p:cNvSpPr>
          <p:nvPr/>
        </p:nvSpPr>
        <p:spPr>
          <a:xfrm xmlns:a="http://schemas.openxmlformats.org/drawingml/2006/main">
            <a:off x="723900" y="2381250"/>
            <a:ext cx="2667000" cy="266700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96589B9A-06C4-4E7A-A5DE-E795A1B7C4CC}"/>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7" name="number">
            <a:extLst xmlns:a="http://schemas.openxmlformats.org/drawingml/2006/main">
              <a:ext uri="{FF2B5EF4-FFF2-40B4-BE49-F238E27FC236}">
                <a16:creationId xmlns:a16="http://schemas.microsoft.com/office/drawing/2014/main" id="{986879EE-2B56-4FCA-9757-61338ECA6BFE}"/>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12</a:t>
            </a:r>
          </a:p>
        </p:txBody>
      </p:sp>
    </p:spTree>
    <p:extLst>
      <p:ext uri="{BB962C8B-B14F-4D97-AF65-F5344CB8AC3E}">
        <p14:creationId xmlns:p14="http://schemas.microsoft.com/office/powerpoint/2010/main" val="2009012096"/>
      </p:ext>
    </p:extLst>
  </p:cSld>
</p:sld>
</file>

<file path=ppt/slides/slide1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E43F5E-4D4B-49A0-AE36-9648FD9A01F7}"/>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E36ABF9A-FC0A-48F0-A975-803F119648B9}"/>
              </a:ext>
            </a:extLst>
          </p:cNvPr>
          <p:cNvSpPr>
            <a:spLocks xmlns:a="http://schemas.openxmlformats.org/drawingml/2006/main" noGrp="1"/>
          </p:cNvSpPr>
          <p:nvPr/>
        </p:nvSpPr>
        <p:spPr>
          <a:xfrm xmlns:a="http://schemas.openxmlformats.org/drawingml/2006/main">
            <a:off x="723900" y="4953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1 · 31:00</a:t>
            </a:r>
          </a:p>
        </p:txBody>
      </p:sp>
      <p:sp>
        <p:nvSpPr>
          <p:cNvPr id="3" name="title">
            <a:extLst xmlns:a="http://schemas.openxmlformats.org/drawingml/2006/main">
              <a:ext uri="{FF2B5EF4-FFF2-40B4-BE49-F238E27FC236}">
                <a16:creationId xmlns:a16="http://schemas.microsoft.com/office/drawing/2014/main" id="{42BBB9E5-77EA-4E20-A16E-EF4F8890C8A3}"/>
              </a:ext>
            </a:extLst>
          </p:cNvPr>
          <p:cNvSpPr>
            <a:spLocks xmlns:a="http://schemas.openxmlformats.org/drawingml/2006/main" noGrp="1"/>
          </p:cNvSpPr>
          <p:nvPr/>
        </p:nvSpPr>
        <p:spPr>
          <a:xfrm xmlns:a="http://schemas.openxmlformats.org/drawingml/2006/main">
            <a:off x="723900" y="95250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Compare cumplimiento, no espectáculo</a:t>
            </a:r>
          </a:p>
        </p:txBody>
      </p:sp>
      <p:sp>
        <p:nvSpPr>
          <p:cNvPr id="4" name="body">
            <a:extLst xmlns:a="http://schemas.openxmlformats.org/drawingml/2006/main">
              <a:ext uri="{FF2B5EF4-FFF2-40B4-BE49-F238E27FC236}">
                <a16:creationId xmlns:a16="http://schemas.microsoft.com/office/drawing/2014/main" id="{9C5E3493-13F5-4A0B-A22A-4949AE2834BA}"/>
              </a:ext>
            </a:extLst>
          </p:cNvPr>
          <p:cNvSpPr>
            <a:spLocks xmlns:a="http://schemas.openxmlformats.org/drawingml/2006/main" noGrp="1"/>
          </p:cNvSpPr>
          <p:nvPr/>
        </p:nvSpPr>
        <p:spPr>
          <a:xfrm xmlns:a="http://schemas.openxmlformats.org/drawingml/2006/main">
            <a:off x="723900" y="2238375"/>
            <a:ext cx="1028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Nivel · control del turno · corrección · transcripción · límites · posibilidad de revisar</a:t>
            </a:r>
          </a:p>
        </p:txBody>
      </p:sp>
      <p:sp>
        <p:nvSpPr>
          <p:cNvPr id="5" name="footer">
            <a:extLst xmlns:a="http://schemas.openxmlformats.org/drawingml/2006/main">
              <a:ext uri="{FF2B5EF4-FFF2-40B4-BE49-F238E27FC236}">
                <a16:creationId xmlns:a16="http://schemas.microsoft.com/office/drawing/2014/main" id="{622F9507-4E96-491A-9190-19690314377A}"/>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F28F3221-4B4F-428D-8549-A35D3BE109AA}"/>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13</a:t>
            </a:r>
          </a:p>
        </p:txBody>
      </p:sp>
    </p:spTree>
    <p:extLst>
      <p:ext uri="{BB962C8B-B14F-4D97-AF65-F5344CB8AC3E}">
        <p14:creationId xmlns:p14="http://schemas.microsoft.com/office/powerpoint/2010/main" val="1259875564"/>
      </p:ext>
    </p:extLst>
  </p:cSld>
</p:sld>
</file>

<file path=ppt/slides/slide14.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6FA529C8-A7F8-477B-A299-9E96094D7798}"/>
              </a:ext>
            </a:extLst>
          </p:cNvPr>
          <p:cNvSpPr>
            <a:spLocks xmlns:a="http://schemas.openxmlformats.org/drawingml/2006/main" noGrp="1"/>
          </p:cNvSpPr>
          <p:nvPr/>
        </p:nvSpPr>
        <p:spPr>
          <a:xfrm xmlns:a="http://schemas.openxmlformats.org/drawingml/2006/main">
            <a:off x="723900" y="4572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1 · 33:00</a:t>
            </a:r>
          </a:p>
        </p:txBody>
      </p:sp>
      <p:sp>
        <p:nvSpPr>
          <p:cNvPr id="2" name="title">
            <a:extLst xmlns:a="http://schemas.openxmlformats.org/drawingml/2006/main">
              <a:ext uri="{FF2B5EF4-FFF2-40B4-BE49-F238E27FC236}">
                <a16:creationId xmlns:a16="http://schemas.microsoft.com/office/drawing/2014/main" id="{56465879-26F1-4826-94C2-5DCEC7852ABB}"/>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Método: encargo, instrucción, salida, verificación, adaptación</a:t>
            </a:r>
          </a:p>
        </p:txBody>
      </p:sp>
      <p:sp>
        <p:nvSpPr>
          <p:cNvPr id="3" name="">
            <a:extLst xmlns:a="http://schemas.openxmlformats.org/drawingml/2006/main">
              <a:ext uri="{FF2B5EF4-FFF2-40B4-BE49-F238E27FC236}">
                <a16:creationId xmlns:a16="http://schemas.microsoft.com/office/drawing/2014/main" id="{BE7BE9AC-4F8E-4662-B55E-DFF623E13A8B}"/>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6252E148-2E2A-4797-B421-00FD4C6C1F6F}"/>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1 Encargo · 2 Instrucción · 3 Salida · 4 Verificación · 5 Adaptación al aula</a:t>
            </a:r>
          </a:p>
        </p:txBody>
      </p:sp>
      <p:sp>
        <p:nvSpPr>
          <p:cNvPr id="5" name="footer">
            <a:extLst xmlns:a="http://schemas.openxmlformats.org/drawingml/2006/main">
              <a:ext uri="{FF2B5EF4-FFF2-40B4-BE49-F238E27FC236}">
                <a16:creationId xmlns:a16="http://schemas.microsoft.com/office/drawing/2014/main" id="{80EBC7D2-820E-4F95-950C-AEA38288CB0A}"/>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CC932615-D17D-476F-B8C1-0B35B9386DDB}"/>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14</a:t>
            </a:r>
          </a:p>
        </p:txBody>
      </p:sp>
    </p:spTree>
    <p:extLst>
      <p:ext uri="{BB962C8B-B14F-4D97-AF65-F5344CB8AC3E}">
        <p14:creationId xmlns:p14="http://schemas.microsoft.com/office/powerpoint/2010/main" val="891888402"/>
      </p:ext>
    </p:extLst>
  </p:cSld>
</p:sld>
</file>

<file path=ppt/slides/slide1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EF76DC-166B-49E4-BDAF-8D64D266D2F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9A5631A9-0120-481A-907D-6EB44AA9222A}"/>
              </a:ext>
            </a:extLst>
          </p:cNvPr>
          <p:cNvSpPr>
            <a:spLocks xmlns:a="http://schemas.openxmlformats.org/drawingml/2006/main" noGrp="1"/>
          </p:cNvSpPr>
          <p:nvPr/>
        </p:nvSpPr>
        <p:spPr>
          <a:xfrm xmlns:a="http://schemas.openxmlformats.org/drawingml/2006/main">
            <a:off x="723900" y="4953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1 · 35:00</a:t>
            </a:r>
          </a:p>
        </p:txBody>
      </p:sp>
      <p:sp>
        <p:nvSpPr>
          <p:cNvPr id="3" name="title">
            <a:extLst xmlns:a="http://schemas.openxmlformats.org/drawingml/2006/main">
              <a:ext uri="{FF2B5EF4-FFF2-40B4-BE49-F238E27FC236}">
                <a16:creationId xmlns:a16="http://schemas.microsoft.com/office/drawing/2014/main" id="{21B59F64-D178-4E93-B20E-5D01BFA5EC05}"/>
              </a:ext>
            </a:extLst>
          </p:cNvPr>
          <p:cNvSpPr>
            <a:spLocks xmlns:a="http://schemas.openxmlformats.org/drawingml/2006/main" noGrp="1"/>
          </p:cNvSpPr>
          <p:nvPr/>
        </p:nvSpPr>
        <p:spPr>
          <a:xfrm xmlns:a="http://schemas.openxmlformats.org/drawingml/2006/main">
            <a:off x="723900" y="1000125"/>
            <a:ext cx="723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Demostración: de una petición vaga a una instrucción verificable</a:t>
            </a:r>
          </a:p>
        </p:txBody>
      </p:sp>
      <p:sp>
        <p:nvSpPr>
          <p:cNvPr id="4" name="body">
            <a:extLst xmlns:a="http://schemas.openxmlformats.org/drawingml/2006/main">
              <a:ext uri="{FF2B5EF4-FFF2-40B4-BE49-F238E27FC236}">
                <a16:creationId xmlns:a16="http://schemas.microsoft.com/office/drawing/2014/main" id="{0223ADE4-BBCE-4167-983E-4FC6E65AA8B7}"/>
              </a:ext>
            </a:extLst>
          </p:cNvPr>
          <p:cNvSpPr>
            <a:spLocks xmlns:a="http://schemas.openxmlformats.org/drawingml/2006/main" noGrp="1"/>
          </p:cNvSpPr>
          <p:nvPr/>
        </p:nvSpPr>
        <p:spPr>
          <a:xfrm xmlns:a="http://schemas.openxmlformats.org/drawingml/2006/main">
            <a:off x="4000500" y="2381250"/>
            <a:ext cx="714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“Haga una actividad de inglés” no define nivel, contexto, producto, tiempo ni límites.</a:t>
            </a:r>
          </a:p>
        </p:txBody>
      </p:sp>
      <p:sp>
        <p:nvSpPr>
          <p:cNvPr id="5" name="">
            <a:extLst xmlns:a="http://schemas.openxmlformats.org/drawingml/2006/main">
              <a:ext uri="{FF2B5EF4-FFF2-40B4-BE49-F238E27FC236}">
                <a16:creationId xmlns:a16="http://schemas.microsoft.com/office/drawing/2014/main" id="{84B78ADF-0CC6-48B9-9527-2C2ACDEA3067}"/>
              </a:ext>
            </a:extLst>
          </p:cNvPr>
          <p:cNvSpPr>
            <a:spLocks xmlns:a="http://schemas.openxmlformats.org/drawingml/2006/main" noGrp="1"/>
          </p:cNvSpPr>
          <p:nvPr/>
        </p:nvSpPr>
        <p:spPr>
          <a:xfrm xmlns:a="http://schemas.openxmlformats.org/drawingml/2006/main">
            <a:off x="723900" y="2381250"/>
            <a:ext cx="2667000" cy="266700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63E97AF9-C0DA-4897-B2A8-92308C566962}"/>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7" name="number">
            <a:extLst xmlns:a="http://schemas.openxmlformats.org/drawingml/2006/main">
              <a:ext uri="{FF2B5EF4-FFF2-40B4-BE49-F238E27FC236}">
                <a16:creationId xmlns:a16="http://schemas.microsoft.com/office/drawing/2014/main" id="{13243327-3B48-4C6C-9991-FCA70841A605}"/>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15</a:t>
            </a:r>
          </a:p>
        </p:txBody>
      </p:sp>
    </p:spTree>
    <p:extLst>
      <p:ext uri="{BB962C8B-B14F-4D97-AF65-F5344CB8AC3E}">
        <p14:creationId xmlns:p14="http://schemas.microsoft.com/office/powerpoint/2010/main" val="771432359"/>
      </p:ext>
    </p:extLst>
  </p:cSld>
</p:sld>
</file>

<file path=ppt/slides/slide1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46FCCC-C3DA-4C1C-92F3-A25EC6AFDDFE}"/>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C4221D02-05F7-415E-BB41-28248E358A53}"/>
              </a:ext>
            </a:extLst>
          </p:cNvPr>
          <p:cNvSpPr>
            <a:spLocks xmlns:a="http://schemas.openxmlformats.org/drawingml/2006/main" noGrp="1"/>
          </p:cNvSpPr>
          <p:nvPr/>
        </p:nvSpPr>
        <p:spPr>
          <a:xfrm xmlns:a="http://schemas.openxmlformats.org/drawingml/2006/main">
            <a:off x="723900" y="4953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1 · 39:00</a:t>
            </a:r>
          </a:p>
        </p:txBody>
      </p:sp>
      <p:sp>
        <p:nvSpPr>
          <p:cNvPr id="3" name="title">
            <a:extLst xmlns:a="http://schemas.openxmlformats.org/drawingml/2006/main">
              <a:ext uri="{FF2B5EF4-FFF2-40B4-BE49-F238E27FC236}">
                <a16:creationId xmlns:a16="http://schemas.microsoft.com/office/drawing/2014/main" id="{58A8457A-5FC9-48EA-8B41-B243E8539B40}"/>
              </a:ext>
            </a:extLst>
          </p:cNvPr>
          <p:cNvSpPr>
            <a:spLocks xmlns:a="http://schemas.openxmlformats.org/drawingml/2006/main" noGrp="1"/>
          </p:cNvSpPr>
          <p:nvPr/>
        </p:nvSpPr>
        <p:spPr>
          <a:xfrm xmlns:a="http://schemas.openxmlformats.org/drawingml/2006/main">
            <a:off x="723900" y="95250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La falla útil: suena bien, pero hace el trabajo del estudiante</a:t>
            </a:r>
          </a:p>
        </p:txBody>
      </p:sp>
      <p:sp>
        <p:nvSpPr>
          <p:cNvPr id="4" name="body">
            <a:extLst xmlns:a="http://schemas.openxmlformats.org/drawingml/2006/main">
              <a:ext uri="{FF2B5EF4-FFF2-40B4-BE49-F238E27FC236}">
                <a16:creationId xmlns:a16="http://schemas.microsoft.com/office/drawing/2014/main" id="{B3FB33AA-6130-40C4-98A0-F3DCD1DADC2E}"/>
              </a:ext>
            </a:extLst>
          </p:cNvPr>
          <p:cNvSpPr>
            <a:spLocks xmlns:a="http://schemas.openxmlformats.org/drawingml/2006/main" noGrp="1"/>
          </p:cNvSpPr>
          <p:nvPr/>
        </p:nvSpPr>
        <p:spPr>
          <a:xfrm xmlns:a="http://schemas.openxmlformats.org/drawingml/2006/main">
            <a:off x="723900" y="2238375"/>
            <a:ext cx="1028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Diálogo completo · vocabulario B2 · 18 turnos · políticas inventadas · cero decisión del estudiante</a:t>
            </a:r>
          </a:p>
        </p:txBody>
      </p:sp>
      <p:sp>
        <p:nvSpPr>
          <p:cNvPr id="5" name="footer">
            <a:extLst xmlns:a="http://schemas.openxmlformats.org/drawingml/2006/main">
              <a:ext uri="{FF2B5EF4-FFF2-40B4-BE49-F238E27FC236}">
                <a16:creationId xmlns:a16="http://schemas.microsoft.com/office/drawing/2014/main" id="{93B568A5-B3A5-4D7F-874E-5D5DD3215F2C}"/>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CB6A6E37-CAAF-4DF7-8463-4E8FF275585F}"/>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16</a:t>
            </a:r>
          </a:p>
        </p:txBody>
      </p:sp>
    </p:spTree>
    <p:extLst>
      <p:ext uri="{BB962C8B-B14F-4D97-AF65-F5344CB8AC3E}">
        <p14:creationId xmlns:p14="http://schemas.microsoft.com/office/powerpoint/2010/main" val="1045415478"/>
      </p:ext>
    </p:extLst>
  </p:cSld>
</p:sld>
</file>

<file path=ppt/slides/slide17.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BD49A8F-5E84-49FE-97E5-B1A649AE3A32}"/>
              </a:ext>
            </a:extLst>
          </p:cNvPr>
          <p:cNvSpPr>
            <a:spLocks xmlns:a="http://schemas.openxmlformats.org/drawingml/2006/main" noGrp="1"/>
          </p:cNvSpPr>
          <p:nvPr/>
        </p:nvSpPr>
        <p:spPr>
          <a:xfrm xmlns:a="http://schemas.openxmlformats.org/drawingml/2006/main">
            <a:off x="723900" y="4572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1 · 43:00</a:t>
            </a:r>
          </a:p>
        </p:txBody>
      </p:sp>
      <p:sp>
        <p:nvSpPr>
          <p:cNvPr id="2" name="title">
            <a:extLst xmlns:a="http://schemas.openxmlformats.org/drawingml/2006/main">
              <a:ext uri="{FF2B5EF4-FFF2-40B4-BE49-F238E27FC236}">
                <a16:creationId xmlns:a16="http://schemas.microsoft.com/office/drawing/2014/main" id="{286D0314-0CC6-4F8E-88FC-2A7923855952}"/>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PR-01 · Construya una instrucción completa</a:t>
            </a:r>
          </a:p>
        </p:txBody>
      </p:sp>
      <p:sp>
        <p:nvSpPr>
          <p:cNvPr id="3" name="">
            <a:extLst xmlns:a="http://schemas.openxmlformats.org/drawingml/2006/main">
              <a:ext uri="{FF2B5EF4-FFF2-40B4-BE49-F238E27FC236}">
                <a16:creationId xmlns:a16="http://schemas.microsoft.com/office/drawing/2014/main" id="{78CC7CA4-7885-411E-9436-F1F92A99062C}"/>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BD982E3D-D10E-4D8C-9DD2-AF80C2953491}"/>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Cuatro pasos · 12 minutos</a:t>
            </a:r>
          </a:p>
          <a:p xmlns:a="http://schemas.openxmlformats.org/drawingml/2006/main">
            <a:pPr algn="l">
              <a:defRPr sz="2475" b="0">
                <a:solidFill>
                  <a:srgbClr val="FFFFFF"/>
                </a:solidFill>
              </a:defRPr>
            </a:pPr>
            <a:r>
              <a:rPr sz="2475" b="0">
                <a:solidFill>
                  <a:srgbClr val="FFFFFF"/>
                </a:solidFill>
              </a:rPr>
              <a:t>Deposite instrucción, fragmento corregido y hallazgo crítico.</a:t>
            </a:r>
          </a:p>
          <a:p xmlns:a="http://schemas.openxmlformats.org/drawingml/2006/main">
            <a:pPr algn="l">
              <a:defRPr sz="2475" b="0">
                <a:solidFill>
                  <a:srgbClr val="FFFFFF"/>
                </a:solidFill>
              </a:defRPr>
            </a:pPr>
            <a:r>
              <a:rPr sz="2475" b="0">
                <a:solidFill>
                  <a:srgbClr val="FFFFFF"/>
                </a:solidFill>
              </a:rPr>
              <a:t>No use datos de estudiantes.</a:t>
            </a:r>
          </a:p>
        </p:txBody>
      </p:sp>
      <p:sp>
        <p:nvSpPr>
          <p:cNvPr id="5" name="footer">
            <a:extLst xmlns:a="http://schemas.openxmlformats.org/drawingml/2006/main">
              <a:ext uri="{FF2B5EF4-FFF2-40B4-BE49-F238E27FC236}">
                <a16:creationId xmlns:a16="http://schemas.microsoft.com/office/drawing/2014/main" id="{271E251C-72D1-4FCB-9272-5075838C3FDB}"/>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C1924186-1080-42DB-9E29-8566D7990E3C}"/>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17</a:t>
            </a:r>
          </a:p>
        </p:txBody>
      </p:sp>
    </p:spTree>
    <p:extLst>
      <p:ext uri="{BB962C8B-B14F-4D97-AF65-F5344CB8AC3E}">
        <p14:creationId xmlns:p14="http://schemas.microsoft.com/office/powerpoint/2010/main" val="2082998802"/>
      </p:ext>
    </p:extLst>
  </p:cSld>
</p:sld>
</file>

<file path=ppt/slides/slide1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FF3D20-C919-4095-A230-9F28426A02E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07D8DC15-6D3E-41B4-99CB-EB1404509769}"/>
              </a:ext>
            </a:extLst>
          </p:cNvPr>
          <p:cNvSpPr>
            <a:spLocks xmlns:a="http://schemas.openxmlformats.org/drawingml/2006/main" noGrp="1"/>
          </p:cNvSpPr>
          <p:nvPr/>
        </p:nvSpPr>
        <p:spPr>
          <a:xfrm xmlns:a="http://schemas.openxmlformats.org/drawingml/2006/main">
            <a:off x="723900" y="4953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1 · 55:00</a:t>
            </a:r>
          </a:p>
        </p:txBody>
      </p:sp>
      <p:sp>
        <p:nvSpPr>
          <p:cNvPr id="3" name="title">
            <a:extLst xmlns:a="http://schemas.openxmlformats.org/drawingml/2006/main">
              <a:ext uri="{FF2B5EF4-FFF2-40B4-BE49-F238E27FC236}">
                <a16:creationId xmlns:a16="http://schemas.microsoft.com/office/drawing/2014/main" id="{0C5308B6-D5CC-4216-B622-FE79091E9C20}"/>
              </a:ext>
            </a:extLst>
          </p:cNvPr>
          <p:cNvSpPr>
            <a:spLocks xmlns:a="http://schemas.openxmlformats.org/drawingml/2006/main" noGrp="1"/>
          </p:cNvSpPr>
          <p:nvPr/>
        </p:nvSpPr>
        <p:spPr>
          <a:xfrm xmlns:a="http://schemas.openxmlformats.org/drawingml/2006/main">
            <a:off x="723900" y="1000125"/>
            <a:ext cx="723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Microentregable y devolución</a:t>
            </a:r>
          </a:p>
        </p:txBody>
      </p:sp>
      <p:sp>
        <p:nvSpPr>
          <p:cNvPr id="4" name="body">
            <a:extLst xmlns:a="http://schemas.openxmlformats.org/drawingml/2006/main">
              <a:ext uri="{FF2B5EF4-FFF2-40B4-BE49-F238E27FC236}">
                <a16:creationId xmlns:a16="http://schemas.microsoft.com/office/drawing/2014/main" id="{59729F72-5544-4942-882C-B1F7CB268E0D}"/>
              </a:ext>
            </a:extLst>
          </p:cNvPr>
          <p:cNvSpPr>
            <a:spLocks xmlns:a="http://schemas.openxmlformats.org/drawingml/2006/main" noGrp="1"/>
          </p:cNvSpPr>
          <p:nvPr/>
        </p:nvSpPr>
        <p:spPr>
          <a:xfrm xmlns:a="http://schemas.openxmlformats.org/drawingml/2006/main">
            <a:off x="4000500" y="2381250"/>
            <a:ext cx="714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Envíe PR-01 · instrucción final · fragmento corregido · hallazgo crítico principal</a:t>
            </a:r>
          </a:p>
        </p:txBody>
      </p:sp>
      <p:sp>
        <p:nvSpPr>
          <p:cNvPr id="5" name="">
            <a:extLst xmlns:a="http://schemas.openxmlformats.org/drawingml/2006/main">
              <a:ext uri="{FF2B5EF4-FFF2-40B4-BE49-F238E27FC236}">
                <a16:creationId xmlns:a16="http://schemas.microsoft.com/office/drawing/2014/main" id="{4E70EB06-2D4D-4F93-95A9-F607D1768B93}"/>
              </a:ext>
            </a:extLst>
          </p:cNvPr>
          <p:cNvSpPr>
            <a:spLocks xmlns:a="http://schemas.openxmlformats.org/drawingml/2006/main" noGrp="1"/>
          </p:cNvSpPr>
          <p:nvPr/>
        </p:nvSpPr>
        <p:spPr>
          <a:xfrm xmlns:a="http://schemas.openxmlformats.org/drawingml/2006/main">
            <a:off x="723900" y="2381250"/>
            <a:ext cx="2667000" cy="266700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6D1BE6EB-3992-4E98-AC23-11B0E3E0A3FC}"/>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7" name="number">
            <a:extLst xmlns:a="http://schemas.openxmlformats.org/drawingml/2006/main">
              <a:ext uri="{FF2B5EF4-FFF2-40B4-BE49-F238E27FC236}">
                <a16:creationId xmlns:a16="http://schemas.microsoft.com/office/drawing/2014/main" id="{0305F5BF-944F-44EF-8640-70B9125E20C1}"/>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18</a:t>
            </a:r>
          </a:p>
        </p:txBody>
      </p:sp>
    </p:spTree>
    <p:extLst>
      <p:ext uri="{BB962C8B-B14F-4D97-AF65-F5344CB8AC3E}">
        <p14:creationId xmlns:p14="http://schemas.microsoft.com/office/powerpoint/2010/main" val="12784847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2026-08-28T15:30:33.6770000Z</dcterms:created>
  <dcterms:modified xsi:type="dcterms:W3CDTF">2026-08-28T15:30:33.6770000Z</dcterms:modified>
</coreProperties>
</file>