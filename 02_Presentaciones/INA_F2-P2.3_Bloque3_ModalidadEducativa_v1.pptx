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6365847630e4029" /><Relationship Type="http://schemas.openxmlformats.org/officeDocument/2006/relationships/extended-properties" Target="/docProps/app.xml" Id="Rfde2808eeae14fe4" /><Relationship Type="http://schemas.openxmlformats.org/officeDocument/2006/relationships/officeDocument" Target="/ppt/presentation.xml" Id="R5ac74f64d85d4267" /></Relationships>
</file>

<file path=ppt/presentation.xml><?xml version="1.0" encoding="utf-8"?>
<p:presentation xmlns:p="http://schemas.openxmlformats.org/presentationml/2006/main">
  <p:sldMasterIdLst>
    <p:sldMasterId xmlns:r="http://schemas.openxmlformats.org/officeDocument/2006/relationships" id="2147483648" r:id="Rbf58813ea5814723"/>
  </p:sldMasterIdLst>
  <p:notesMasterIdLst>
    <p:notesMasterId xmlns:r="http://schemas.openxmlformats.org/officeDocument/2006/relationships" r:id="Rac4aca44c90b4204"/>
  </p:notesMasterIdLst>
  <p:sldIdLst>
    <p:sldId xmlns:r="http://schemas.openxmlformats.org/officeDocument/2006/relationships" id="256" r:id="R35cd3933867a4cfa"/>
    <p:sldId xmlns:r="http://schemas.openxmlformats.org/officeDocument/2006/relationships" id="257" r:id="R71f2391ff2f1404f"/>
    <p:sldId xmlns:r="http://schemas.openxmlformats.org/officeDocument/2006/relationships" id="258" r:id="R0c3565f568824d30"/>
    <p:sldId xmlns:r="http://schemas.openxmlformats.org/officeDocument/2006/relationships" id="259" r:id="R6c5a0d4ec1704008"/>
    <p:sldId xmlns:r="http://schemas.openxmlformats.org/officeDocument/2006/relationships" id="260" r:id="R9fafa3048e464596"/>
    <p:sldId xmlns:r="http://schemas.openxmlformats.org/officeDocument/2006/relationships" id="261" r:id="R45e593d31d9f4521"/>
    <p:sldId xmlns:r="http://schemas.openxmlformats.org/officeDocument/2006/relationships" id="262" r:id="R4047f9777b9e4fd6"/>
    <p:sldId xmlns:r="http://schemas.openxmlformats.org/officeDocument/2006/relationships" id="263" r:id="R7c7903938aa0420b"/>
    <p:sldId xmlns:r="http://schemas.openxmlformats.org/officeDocument/2006/relationships" id="264" r:id="R5e8dfd6ac9b249f2"/>
    <p:sldId xmlns:r="http://schemas.openxmlformats.org/officeDocument/2006/relationships" id="265" r:id="R56a87fadc1094ecb"/>
    <p:sldId xmlns:r="http://schemas.openxmlformats.org/officeDocument/2006/relationships" id="266" r:id="Red2971607d4241a6"/>
    <p:sldId xmlns:r="http://schemas.openxmlformats.org/officeDocument/2006/relationships" id="267" r:id="R5bda3143d8a44b2a"/>
    <p:sldId xmlns:r="http://schemas.openxmlformats.org/officeDocument/2006/relationships" id="268" r:id="R5f30d4932fb84cf7"/>
    <p:sldId xmlns:r="http://schemas.openxmlformats.org/officeDocument/2006/relationships" id="269" r:id="R30e0ccc3374c4e5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0cb6cb4a0a64173" /><Relationship Type="http://schemas.openxmlformats.org/officeDocument/2006/relationships/slideMaster" Target="/ppt/slideMasters/slideMaster1.xml" Id="Rbf58813ea5814723" /><Relationship Type="http://schemas.openxmlformats.org/officeDocument/2006/relationships/notesMaster" Target="/ppt/notesMasters/notesMaster1.xml" Id="Rac4aca44c90b4204" /><Relationship Type="http://schemas.openxmlformats.org/officeDocument/2006/relationships/presProps" Target="/ppt/presProps.xml" Id="Rb2bc616161da4cfe" /><Relationship Type="http://schemas.openxmlformats.org/officeDocument/2006/relationships/tableStyles" Target="/ppt/tableStyles.xml" Id="R04bf918f6c864871" /><Relationship Type="http://schemas.openxmlformats.org/officeDocument/2006/relationships/slide" Target="/ppt/slides/slide1.xml" Id="R35cd3933867a4cfa" /><Relationship Type="http://schemas.openxmlformats.org/officeDocument/2006/relationships/slide" Target="/ppt/slides/slide2.xml" Id="R71f2391ff2f1404f" /><Relationship Type="http://schemas.openxmlformats.org/officeDocument/2006/relationships/slide" Target="/ppt/slides/slide3.xml" Id="R0c3565f568824d30" /><Relationship Type="http://schemas.openxmlformats.org/officeDocument/2006/relationships/slide" Target="/ppt/slides/slide4.xml" Id="R6c5a0d4ec1704008" /><Relationship Type="http://schemas.openxmlformats.org/officeDocument/2006/relationships/slide" Target="/ppt/slides/slide5.xml" Id="R9fafa3048e464596" /><Relationship Type="http://schemas.openxmlformats.org/officeDocument/2006/relationships/slide" Target="/ppt/slides/slide6.xml" Id="R45e593d31d9f4521" /><Relationship Type="http://schemas.openxmlformats.org/officeDocument/2006/relationships/slide" Target="/ppt/slides/slide7.xml" Id="R4047f9777b9e4fd6" /><Relationship Type="http://schemas.openxmlformats.org/officeDocument/2006/relationships/slide" Target="/ppt/slides/slide8.xml" Id="R7c7903938aa0420b" /><Relationship Type="http://schemas.openxmlformats.org/officeDocument/2006/relationships/slide" Target="/ppt/slides/slide9.xml" Id="R5e8dfd6ac9b249f2" /><Relationship Type="http://schemas.openxmlformats.org/officeDocument/2006/relationships/slide" Target="/ppt/slides/slide10.xml" Id="R56a87fadc1094ecb" /><Relationship Type="http://schemas.openxmlformats.org/officeDocument/2006/relationships/slide" Target="/ppt/slides/slide11.xml" Id="Red2971607d4241a6" /><Relationship Type="http://schemas.openxmlformats.org/officeDocument/2006/relationships/slide" Target="/ppt/slides/slide12.xml" Id="R5bda3143d8a44b2a" /><Relationship Type="http://schemas.openxmlformats.org/officeDocument/2006/relationships/slide" Target="/ppt/slides/slide13.xml" Id="R5f30d4932fb84cf7" /><Relationship Type="http://schemas.openxmlformats.org/officeDocument/2006/relationships/slide" Target="/ppt/slides/slide14.xml" Id="R30e0ccc3374c4e5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b3dce4ad6364e2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f7d080a9424370" /><Relationship Type="http://schemas.openxmlformats.org/officeDocument/2006/relationships/notesMaster" Target="/ppt/notesMasters/notesMaster1.xml" Id="Raacd7219909a456e" /></Relationships>
</file>

<file path=ppt/notesSlides/_rels/notesSlide2.xml.rels>&#65279;<?xml version="1.0" encoding="utf-8"?><Relationships xmlns="http://schemas.openxmlformats.org/package/2006/relationships"><Relationship Type="http://schemas.openxmlformats.org/officeDocument/2006/relationships/slide" Target="/ppt/slides/slide2.xml" Id="Red5ea919f4784482" /><Relationship Type="http://schemas.openxmlformats.org/officeDocument/2006/relationships/notesMaster" Target="/ppt/notesMasters/notesMaster1.xml" Id="R55e57ec8516c499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d69d73544c4116" /><Relationship Type="http://schemas.openxmlformats.org/officeDocument/2006/relationships/notesMaster" Target="/ppt/notesMasters/notesMaster1.xml" Id="Rcb26c8d356e94b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5b58d0fb6fe14468" /><Relationship Type="http://schemas.openxmlformats.org/officeDocument/2006/relationships/notesMaster" Target="/ppt/notesMasters/notesMaster1.xml" Id="R2418f31e7a3141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b4afdb71aa4c93" /><Relationship Type="http://schemas.openxmlformats.org/officeDocument/2006/relationships/notesMaster" Target="/ppt/notesMasters/notesMaster1.xml" Id="R0b0a5872db43449b" /></Relationships>
</file>

<file path=ppt/notesSlides/_rels/notesSlide6.xml.rels>&#65279;<?xml version="1.0" encoding="utf-8"?><Relationships xmlns="http://schemas.openxmlformats.org/package/2006/relationships"><Relationship Type="http://schemas.openxmlformats.org/officeDocument/2006/relationships/slide" Target="/ppt/slides/slide6.xml" Id="R701f41220e714018" /><Relationship Type="http://schemas.openxmlformats.org/officeDocument/2006/relationships/notesMaster" Target="/ppt/notesMasters/notesMaster1.xml" Id="R5b6d10403f784753" /></Relationships>
</file>

<file path=ppt/notesSlides/_rels/notesSlide7.xml.rels>&#65279;<?xml version="1.0" encoding="utf-8"?><Relationships xmlns="http://schemas.openxmlformats.org/package/2006/relationships"><Relationship Type="http://schemas.openxmlformats.org/officeDocument/2006/relationships/slide" Target="/ppt/slides/slide7.xml" Id="R55fef4f81cb5473e" /><Relationship Type="http://schemas.openxmlformats.org/officeDocument/2006/relationships/notesMaster" Target="/ppt/notesMasters/notesMaster1.xml" Id="Rec2a3a31904441b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67f9e4063f64487" /><Relationship Type="http://schemas.openxmlformats.org/officeDocument/2006/relationships/notesMaster" Target="/ppt/notesMasters/notesMaster1.xml" Id="R18c27d359669468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cb6eccff1444886" /><Relationship Type="http://schemas.openxmlformats.org/officeDocument/2006/relationships/notesMaster" Target="/ppt/notesMasters/notesMaster1.xml" Id="R380fec04a1734f4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218c5830c44af3" /><Relationship Type="http://schemas.openxmlformats.org/officeDocument/2006/relationships/notesMaster" Target="/ppt/notesMasters/notesMaster1.xml" Id="R16119a86e8d049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6f0e32fb87a4033" /><Relationship Type="http://schemas.openxmlformats.org/officeDocument/2006/relationships/notesMaster" Target="/ppt/notesMasters/notesMaster1.xml" Id="R632a2e7b6e03413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6f2fa08b834400f" /><Relationship Type="http://schemas.openxmlformats.org/officeDocument/2006/relationships/notesMaster" Target="/ppt/notesMasters/notesMaster1.xml" Id="R7a02292c0358411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415de15ed2e4aa1" /><Relationship Type="http://schemas.openxmlformats.org/officeDocument/2006/relationships/notesMaster" Target="/ppt/notesMasters/notesMaster1.xml" Id="R0c681da5ed6e43c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e4f3f3aadfe4464" /><Relationship Type="http://schemas.openxmlformats.org/officeDocument/2006/relationships/notesMaster" Target="/ppt/notesMasters/notesMaster1.xml" Id="R533888daef534c7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Reabra la jornada después del almuerzo con una síntesis breve. El Bloque 3 contiene dos ciclos estándar, no tres. En el primero se construye una secuencia de veinte minutos con rúbrica y se prueba si discrimina. En el segundo se practica con voz en dos configuraciones. La conexión entre ambos es la misma: una salida bien presentada sigue siendo un borrador. La persona docente define objetivo, evidencia, límites y decisión final. Recuerde que se trabajará con casos y muestras sintéticas, nunca con datos reales.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funciones prácticas disponibles en las cuentas presentes. No prometa características idénticas: los límites de mensajes, archivos y voz dependen del plan, la región y la versión. Para el ciclo 3.1 cualquiera de las dos herramientas puede trabajar con texto pegado y una instrucción completa. Para 3.2 se requiere una función de voz disponible o la transcripción de respaldo. El criterio de selección es cumplimiento de la tarea, control del turno, posibilidad de revisar y condiciones de datos, no preferencia de marca.</a:t>
            </a:r>
          </a:p>
          <a:p xmlns:a="http://schemas.openxmlformats.org/drawingml/2006/main">
            <a:r>
              <a:t/>
            </a:r>
          </a:p>
          <a:p xmlns:a="http://schemas.openxmlformats.org/drawingml/2006/main">
            <a:r>
              <a:t>[Sources]</a:t>
            </a:r>
          </a:p>
          <a:p xmlns:a="http://schemas.openxmlformats.org/drawingml/2006/main">
            <a:r>
              <a:t>OpenAI, *ChatGPT Voice* (consulta 28 ago 2026): https://help.openai.com/en/articles/20001274/ · Anthropic, *Using voice mode on Claude Mobile Apps* (consulta 28 ago 2026): https://support.anthropic.com/en/articles/11101966-using-voice-mode-on-claude-mobile-apps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Reitere la regla antes del primer punto de uso. No ingrese nombres, cédulas, calificaciones, trabajos reales ni grabaciones de estudiantes. En 3.1 se usarán las producciones sintéticas de P3.8. En 3.2 cada participante utiliza su propia voz. Si alguien desea adaptar el material a un caso real, debe describir la necesidad sin elementos identificables. Aclare que un modelo local se verá en el bloque siguiente; trabajar localmente no autoriza a descuidar la seguridad del dispositivo.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Abra la demostración del ciclo 3.1 con el caso CO-05. Antes de pedir una secuencia, formule el desempeño observable: responder una queja de entrega, proponer una acción viable y comunicar el siguiente paso. Señale que “comprender servicio al cliente” no sería observable. Agregue nivel B1, expresión escrita, 20 minutos y contexto ocupacional. Pida al chat qué evidencia permitiría saber si se logró. Use una respuesta para cerrar el encargo antes de abrir la herramienta.</a:t>
            </a:r>
          </a:p>
          <a:p xmlns:a="http://schemas.openxmlformats.org/drawingml/2006/main">
            <a:r>
              <a:t/>
            </a:r>
          </a:p>
          <a:p xmlns:a="http://schemas.openxmlformats.org/drawingml/2006/main">
            <a:r>
              <a:t>[Sources]</a:t>
            </a:r>
          </a:p>
          <a:p xmlns:a="http://schemas.openxmlformats.org/drawingml/2006/main">
            <a:r>
              <a:t>Council of Europe, *CEFR Companion Volume* (2020): https://www.coe.int/en/web/common-european-framework-reference-languages/cefr-companion-volume-and-its-language-versions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Muestre la secuencia aceptable de P3.5. Sume los minutos en voz alta. Explique que la herramienta suele agregar aperturas, explicaciones y cierres sin comprobar el total. Observe la proporción: la persona estudiante produce durante nueve minutos y verifica durante cuatro. Compare con una versión defectuosa de 48 minutos declarada como 20. No corrija todo; añada a la instrucción una comprobación aritmética y un campo de evidencia por momento.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Presente los cuatro criterios de P3.8. Distinga criterio de etiqueta. “Muy bueno” no indica qué ocurrió; “reconoce el problema y ofrece una solución comprensible” sí puede localizarse en el texto. Muestre un descriptor débil y su versión corregida. Recuerde que no debe evaluarse esfuerzo, personalidad ni contenido no enseñado. La alineación con el MCER es una referencia para calibrar el desempeño, no una licencia para asignar automáticamente un nivel global a la persona.</a:t>
            </a:r>
          </a:p>
          <a:p xmlns:a="http://schemas.openxmlformats.org/drawingml/2006/main">
            <a:r>
              <a:t/>
            </a:r>
          </a:p>
          <a:p xmlns:a="http://schemas.openxmlformats.org/drawingml/2006/main">
            <a:r>
              <a:t>[Sources]</a:t>
            </a:r>
          </a:p>
          <a:p xmlns:a="http://schemas.openxmlformats.org/drawingml/2006/main">
            <a:r>
              <a:t>Council of Europe, *CEFR Companion Volume* (2020): https://rm.coe.int/cefr-companion-volume-with-new-descriptors-2020/16809ea0d4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Aplique la rúbrica a las dos producciones de P3.8. Justifique cada puntuación con una frase del texto. Si ambas muestras reciben casi lo mismo, no concluya que ambas son iguales: revise descriptores y criterios. Busque niveles que se solapan, palabras vagas y doble penalización del mismo error. Señale que 16 y 7 son resultados del ejemplo, no cortes universales. La prueba de esfuerzo valida el comportamiento del instrumento frente a casos contrastantes; después conviene probar un caso intermedio.</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Fije PR-05 en el chat. Cada participante usa CO-05 o un objetivo propio equivalente. Debe definir tarea, generar secuencia y rúbrica, aplicar el instrumento a dos muestras sintéticas y corregir un criterio. Quien no tenga acceso trabaja con el respaldo PR-05. El microentregable incluye secuencia, rúbrica, puntuaciones y criterio corregido. Active 12 minutos y dé avisos a los seis, tres y un minuto. Recuerde la regla de datos antes de iniciar.</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 tres minutos para enviar. La moderación busca una respuesta con criterio observable y otra donde la prueba reveló un problema. En la devolución de dos minutos, no lea textos completos. Compare el descriptor anterior y el corregido. Nombre la evidencia que permite distinguir columnas. Cierre el ciclo recordando que una rúbrica generada no está validada por el hecho de tener una tabla y cuatro colores.</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Inicie el segundo ciclo distinguiendo papeles. Como interlocutor, el asistente debe mantener nivel, situación y turnos sin hablar por la persona estudiante. Como evaluador formativo, comenta la propia voz de la persona docente, declara incertidumbre y elige una prioridad observable. No mezcle ambos papeles en la misma instrucción inicial. Una conversación útil puede fallar como evaluación; una devolución detallada puede interrumpir la práctica. Defina primero cuál función necesita.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Nombre los límites sin prometer precisión. Una transcripción correcta no demuestra que todos los rasgos de pronunciación fueran correctos. Una transcripción equivocada puede venir de ruido, acento, ritmo o limitaciones del sistema; no diagnostique la causa sin evidencia. La latencia altera el turno y el modelo puede elogiar en exceso. Pida incertidumbre explícita, una sola prioridad y una frase para repetir. El objetivo no es eliminar el acento costarricense, sino mejorar inteligibilidad para la situación comunicativa.</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Ejecute cuatro turnos con voz. Muestre primero el asistente como cliente. Interrúmpalo si hace dos preguntas o excede el nivel. Después reinicie y pida retroalimentación sobre su propia voz. Exija una evidencia, una prioridad y una frase. Si la función falla, use la transcripción aceptable y la defectuosa de P3.5. Señale cualquier elogio no sustentado, puntuación opaca o exigencia de “sonar nativo”. No use la voz de otra persona.</a:t>
            </a:r>
          </a:p>
          <a:p xmlns:a="http://schemas.openxmlformats.org/drawingml/2006/main">
            <a:r>
              <a:t/>
            </a:r>
          </a:p>
          <a:p xmlns:a="http://schemas.openxmlformats.org/drawingml/2006/main">
            <a:r>
              <a:t>[Sources]</a:t>
            </a:r>
          </a:p>
          <a:p xmlns:a="http://schemas.openxmlformats.org/drawingml/2006/main">
            <a:r>
              <a:t>OpenAI, *ChatGPT Voice* (consulta 28 ago 2026): https://help.openai.com/en/articles/20001274/ · Anthropic, *Using voice mode on Claude Mobile Apps* (consulta 28 ago 2026): https://support.anthropic.com/en/articles/11101966-using-voice-mode-on-claude-mobile-apps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Fije PR-06 en el chat. Las personas practican tres minutos como interlocutor, reinician como evaluador formativo y registran un límite. Quien no pueda usar audio analiza el respaldo. Pida audífonos y volumen prudente; micrófonos de Teams permanecen cerrados. La salida que se deposita no incluye audio: solo instrucción, límite observado y ajuste. Dé avisos a los seis, tres y un minuto. Si muchas cuentas alcanzan límites, pase de inmediato al plan B.</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Dé tres minutos para el microentregable y dos para comentar dos hallazgos. Use los cinco minutos finales para sintetizar ambos ciclos. La secuencia debe caber; la rúbrica debe discriminar; la voz debe conservar la producción; la retroalimentación debe señalar evidencia; la persona docente decide. Anticipe el Bloque 4: se cambiará la infraestructura, no el método. Un modelo local también requiere encargo, instrucción, verificación y adaptación. Recuerde que límites de producto se verificarán nuevamente en septiembre.</a:t>
            </a:r>
          </a:p>
          <a:p xmlns:a="http://schemas.openxmlformats.org/drawingml/2006/main">
            <a:r>
              <a:t/>
            </a:r>
          </a:p>
          <a:p xmlns:a="http://schemas.openxmlformats.org/drawingml/2006/main">
            <a:r>
              <a:t>[Sources]</a:t>
            </a:r>
          </a:p>
          <a:p xmlns:a="http://schemas.openxmlformats.org/drawingml/2006/main">
            <a:r>
              <a:t>Fuentes internas: materiales del taller INA, versión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626e23dff0547e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afb90c647454e4f" /><Relationship Type="http://schemas.openxmlformats.org/officeDocument/2006/relationships/slideLayout" Target="/ppt/slideLayouts/slideLayout1.xml" Id="R67f7427088dc48b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7f7427088dc48b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227ae5f3a9e4cff" /><Relationship Type="http://schemas.openxmlformats.org/officeDocument/2006/relationships/notesSlide" Target="/ppt/notesSlides/notesSlide1.xml" Id="R6d205d36b0a54b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b50b92be9a54c17" /><Relationship Type="http://schemas.openxmlformats.org/officeDocument/2006/relationships/notesSlide" Target="/ppt/notesSlides/notesSlide2.xml" Id="Rc52782f160904a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44970aaffea48f5" /><Relationship Type="http://schemas.openxmlformats.org/officeDocument/2006/relationships/notesSlide" Target="/ppt/notesSlides/notesSlide3.xml" Id="R40ddd9d9f8ac463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1c679d502814402" /><Relationship Type="http://schemas.openxmlformats.org/officeDocument/2006/relationships/notesSlide" Target="/ppt/notesSlides/notesSlide4.xml" Id="Rd5d72c0849ef4d7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e72c1fe45da4b40" /><Relationship Type="http://schemas.openxmlformats.org/officeDocument/2006/relationships/notesSlide" Target="/ppt/notesSlides/notesSlide5.xml" Id="Ra94bdec71b4045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2314e74f3174ca2" /><Relationship Type="http://schemas.openxmlformats.org/officeDocument/2006/relationships/notesSlide" Target="/ppt/notesSlides/notesSlide6.xml" Id="R5bb7d84c4b63439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b8b2fb34e54810" /><Relationship Type="http://schemas.openxmlformats.org/officeDocument/2006/relationships/notesSlide" Target="/ppt/notesSlides/notesSlide7.xml" Id="R82506ac477bd443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338c571783446e" /><Relationship Type="http://schemas.openxmlformats.org/officeDocument/2006/relationships/notesSlide" Target="/ppt/notesSlides/notesSlide8.xml" Id="R221d33e580814be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c702926ffe9491c" /><Relationship Type="http://schemas.openxmlformats.org/officeDocument/2006/relationships/notesSlide" Target="/ppt/notesSlides/notesSlide9.xml" Id="R087e8b9c2cd1479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56bcd95417249fa" /><Relationship Type="http://schemas.openxmlformats.org/officeDocument/2006/relationships/notesSlide" Target="/ppt/notesSlides/notesSlide10.xml" Id="R0b7b78e028f44ad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550f6bab6d34bb3" /><Relationship Type="http://schemas.openxmlformats.org/officeDocument/2006/relationships/notesSlide" Target="/ppt/notesSlides/notesSlide11.xml" Id="Rb011f6b282a44ae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a031627de16e41c3" /><Relationship Type="http://schemas.openxmlformats.org/officeDocument/2006/relationships/notesSlide" Target="/ppt/notesSlides/notesSlide12.xml" Id="R7915783871be40e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552dcfb6f2d4471" /><Relationship Type="http://schemas.openxmlformats.org/officeDocument/2006/relationships/notesSlide" Target="/ppt/notesSlides/notesSlide13.xml" Id="Rbc8234fd067e45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77eb68392ee4bbb" /><Relationship Type="http://schemas.openxmlformats.org/officeDocument/2006/relationships/notesSlide" Target="/ppt/notesSlides/notesSlide14.xml" Id="R92d37012dadf495d" /></Relationships>
</file>

<file path=ppt/slides/slide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0512B6-0250-4ADA-8218-E790683876B1}"/>
              </a:ext>
            </a:extLst>
          </p:cNvPr>
          <p:cNvSpPr>
            <a:spLocks xmlns:a="http://schemas.openxmlformats.org/drawingml/2006/main" noGrp="1"/>
          </p:cNvSpPr>
          <p:nvPr/>
        </p:nvSpPr>
        <p:spPr>
          <a:xfrm xmlns:a="http://schemas.openxmlformats.org/drawingml/2006/main">
            <a:off x="723900" y="819150"/>
            <a:ext cx="95250" cy="48577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2" name="title">
            <a:extLst xmlns:a="http://schemas.openxmlformats.org/drawingml/2006/main">
              <a:ext uri="{FF2B5EF4-FFF2-40B4-BE49-F238E27FC236}">
                <a16:creationId xmlns:a16="http://schemas.microsoft.com/office/drawing/2014/main" id="{2A25EFF3-5035-45F9-8E0C-3C3E0882C3C9}"/>
              </a:ext>
            </a:extLst>
          </p:cNvPr>
          <p:cNvSpPr>
            <a:spLocks xmlns:a="http://schemas.openxmlformats.org/drawingml/2006/main" noGrp="1"/>
          </p:cNvSpPr>
          <p:nvPr/>
        </p:nvSpPr>
        <p:spPr>
          <a:xfrm xmlns:a="http://schemas.openxmlformats.org/drawingml/2006/main">
            <a:off x="1143000" y="1428750"/>
            <a:ext cx="9525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4050" b="1">
                <a:solidFill>
                  <a:srgbClr val="FFFFFF"/>
                </a:solidFill>
              </a:defRPr>
            </a:pPr>
            <a:r>
              <a:rPr sz="4050" b="1">
                <a:solidFill>
                  <a:srgbClr val="FFFFFF"/>
                </a:solidFill>
              </a:rPr>
              <a:t>Secuencia y rúbrica · Prueba de esfuerzo · Práctica oral · Verificación antes de usar</a:t>
            </a:r>
          </a:p>
        </p:txBody>
      </p:sp>
      <p:sp>
        <p:nvSpPr>
          <p:cNvPr id="3" name="subtitle">
            <a:extLst xmlns:a="http://schemas.openxmlformats.org/drawingml/2006/main">
              <a:ext uri="{FF2B5EF4-FFF2-40B4-BE49-F238E27FC236}">
                <a16:creationId xmlns:a16="http://schemas.microsoft.com/office/drawing/2014/main" id="{816C7DB7-3FE8-4695-806B-E7189967D59B}"/>
              </a:ext>
            </a:extLst>
          </p:cNvPr>
          <p:cNvSpPr>
            <a:spLocks xmlns:a="http://schemas.openxmlformats.org/drawingml/2006/main" noGrp="1"/>
          </p:cNvSpPr>
          <p:nvPr/>
        </p:nvSpPr>
        <p:spPr>
          <a:xfrm xmlns:a="http://schemas.openxmlformats.org/drawingml/2006/main">
            <a:off x="1143000" y="3524250"/>
            <a:ext cx="857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r>
              <a:t/>
            </a:r>
          </a:p>
        </p:txBody>
      </p:sp>
      <p:sp>
        <p:nvSpPr>
          <p:cNvPr id="4" name="footer">
            <a:extLst xmlns:a="http://schemas.openxmlformats.org/drawingml/2006/main">
              <a:ext uri="{FF2B5EF4-FFF2-40B4-BE49-F238E27FC236}">
                <a16:creationId xmlns:a16="http://schemas.microsoft.com/office/drawing/2014/main" id="{0431A27A-F40A-492C-AE7D-D80A0B403BD9}"/>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5" name="number">
            <a:extLst xmlns:a="http://schemas.openxmlformats.org/drawingml/2006/main">
              <a:ext uri="{FF2B5EF4-FFF2-40B4-BE49-F238E27FC236}">
                <a16:creationId xmlns:a16="http://schemas.microsoft.com/office/drawing/2014/main" id="{36144943-CF8D-40D5-98A8-6CAC5F87BC57}"/>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01</a:t>
            </a:r>
          </a:p>
        </p:txBody>
      </p:sp>
    </p:spTree>
    <p:extLst>
      <p:ext uri="{BB962C8B-B14F-4D97-AF65-F5344CB8AC3E}">
        <p14:creationId xmlns:p14="http://schemas.microsoft.com/office/powerpoint/2010/main" val="759216240"/>
      </p:ext>
    </p:extLst>
  </p:cSld>
</p:sld>
</file>

<file path=ppt/slides/slide2.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4342590B-7426-4B84-BEB0-4FC546DAD4CB}"/>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3 · 1:30</a:t>
            </a:r>
          </a:p>
        </p:txBody>
      </p:sp>
      <p:sp>
        <p:nvSpPr>
          <p:cNvPr id="2" name="title">
            <a:extLst xmlns:a="http://schemas.openxmlformats.org/drawingml/2006/main">
              <a:ext uri="{FF2B5EF4-FFF2-40B4-BE49-F238E27FC236}">
                <a16:creationId xmlns:a16="http://schemas.microsoft.com/office/drawing/2014/main" id="{895394D0-9596-4F34-924F-ADFE0E0881B8}"/>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ChatGPT y Claude: compare la tarea, no la marca</a:t>
            </a:r>
          </a:p>
        </p:txBody>
      </p:sp>
      <p:sp>
        <p:nvSpPr>
          <p:cNvPr id="3" name="">
            <a:extLst xmlns:a="http://schemas.openxmlformats.org/drawingml/2006/main">
              <a:ext uri="{FF2B5EF4-FFF2-40B4-BE49-F238E27FC236}">
                <a16:creationId xmlns:a16="http://schemas.microsoft.com/office/drawing/2014/main" id="{D53D5517-4E2A-48DC-B530-117E2B005196}"/>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9BEDA94C-B32B-4213-B86B-947DBC09F670}"/>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Archivos y contexto · extensión útil · voz móvil · límites variables · revisión siempre necesaria</a:t>
            </a:r>
          </a:p>
        </p:txBody>
      </p:sp>
      <p:sp>
        <p:nvSpPr>
          <p:cNvPr id="5" name="footer">
            <a:extLst xmlns:a="http://schemas.openxmlformats.org/drawingml/2006/main">
              <a:ext uri="{FF2B5EF4-FFF2-40B4-BE49-F238E27FC236}">
                <a16:creationId xmlns:a16="http://schemas.microsoft.com/office/drawing/2014/main" id="{57C8A8D6-1E6B-4719-8DB1-567A44F41CDC}"/>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C0F5F421-A83D-4046-9EDF-7D75CC6D79BB}"/>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02</a:t>
            </a:r>
          </a:p>
        </p:txBody>
      </p:sp>
    </p:spTree>
    <p:extLst>
      <p:ext uri="{BB962C8B-B14F-4D97-AF65-F5344CB8AC3E}">
        <p14:creationId xmlns:p14="http://schemas.microsoft.com/office/powerpoint/2010/main" val="1161505608"/>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D61BB60-B6E9-4964-8088-7893FE45A3D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E6ED54DF-BE3E-47FE-82B1-837810229715}"/>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3:30</a:t>
            </a:r>
          </a:p>
        </p:txBody>
      </p:sp>
      <p:sp>
        <p:nvSpPr>
          <p:cNvPr id="3" name="title">
            <a:extLst xmlns:a="http://schemas.openxmlformats.org/drawingml/2006/main">
              <a:ext uri="{FF2B5EF4-FFF2-40B4-BE49-F238E27FC236}">
                <a16:creationId xmlns:a16="http://schemas.microsoft.com/office/drawing/2014/main" id="{DEB8C16B-0986-408A-AAFE-B44C249666AE}"/>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La regla de datos no cambia después del almuerzo</a:t>
            </a:r>
          </a:p>
        </p:txBody>
      </p:sp>
      <p:sp>
        <p:nvSpPr>
          <p:cNvPr id="4" name="body">
            <a:extLst xmlns:a="http://schemas.openxmlformats.org/drawingml/2006/main">
              <a:ext uri="{FF2B5EF4-FFF2-40B4-BE49-F238E27FC236}">
                <a16:creationId xmlns:a16="http://schemas.microsoft.com/office/drawing/2014/main" id="{364FCC6D-2DE7-4361-8E2D-9E22282EA028}"/>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Use objetivos generales, casos ficticios, muestras sintéticas y su propia voz.</a:t>
            </a:r>
          </a:p>
        </p:txBody>
      </p:sp>
      <p:sp>
        <p:nvSpPr>
          <p:cNvPr id="5" name="">
            <a:extLst xmlns:a="http://schemas.openxmlformats.org/drawingml/2006/main">
              <a:ext uri="{FF2B5EF4-FFF2-40B4-BE49-F238E27FC236}">
                <a16:creationId xmlns:a16="http://schemas.microsoft.com/office/drawing/2014/main" id="{2BBE9FA5-8621-433E-8752-D9AEFD97616C}"/>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9ED3FF24-C73D-43FC-804B-F42001B97806}"/>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ECAB013B-446C-4505-8777-B3AABFBC61D8}"/>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03</a:t>
            </a:r>
          </a:p>
        </p:txBody>
      </p:sp>
    </p:spTree>
    <p:extLst>
      <p:ext uri="{BB962C8B-B14F-4D97-AF65-F5344CB8AC3E}">
        <p14:creationId xmlns:p14="http://schemas.microsoft.com/office/powerpoint/2010/main" val="1172900442"/>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48153D7-9A5E-4E65-BA0B-3729D47589E1}"/>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DD88381A-A642-45BC-A506-BC0EBE7D3385}"/>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5:00</a:t>
            </a:r>
          </a:p>
        </p:txBody>
      </p:sp>
      <p:sp>
        <p:nvSpPr>
          <p:cNvPr id="3" name="title">
            <a:extLst xmlns:a="http://schemas.openxmlformats.org/drawingml/2006/main">
              <a:ext uri="{FF2B5EF4-FFF2-40B4-BE49-F238E27FC236}">
                <a16:creationId xmlns:a16="http://schemas.microsoft.com/office/drawing/2014/main" id="{621CBBAF-9692-47D2-BC13-9AEDD0E5B50E}"/>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PR-05 empieza por una evidencia observable</a:t>
            </a:r>
          </a:p>
        </p:txBody>
      </p:sp>
      <p:sp>
        <p:nvSpPr>
          <p:cNvPr id="4" name="body">
            <a:extLst xmlns:a="http://schemas.openxmlformats.org/drawingml/2006/main">
              <a:ext uri="{FF2B5EF4-FFF2-40B4-BE49-F238E27FC236}">
                <a16:creationId xmlns:a16="http://schemas.microsoft.com/office/drawing/2014/main" id="{5E9F5F69-7259-4B4A-861A-DD69CE252437}"/>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B1 · responder una queja · proponer una acción · comunicar el siguiente paso · 20 minutos</a:t>
            </a:r>
          </a:p>
        </p:txBody>
      </p:sp>
      <p:sp>
        <p:nvSpPr>
          <p:cNvPr id="5" name="footer">
            <a:extLst xmlns:a="http://schemas.openxmlformats.org/drawingml/2006/main">
              <a:ext uri="{FF2B5EF4-FFF2-40B4-BE49-F238E27FC236}">
                <a16:creationId xmlns:a16="http://schemas.microsoft.com/office/drawing/2014/main" id="{54035611-5EBA-45CC-B7DD-537CA83AAE06}"/>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FDA0CCAD-DA81-4FA4-9E66-6B021F31CE69}"/>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04</a:t>
            </a:r>
          </a:p>
        </p:txBody>
      </p:sp>
    </p:spTree>
    <p:extLst>
      <p:ext uri="{BB962C8B-B14F-4D97-AF65-F5344CB8AC3E}">
        <p14:creationId xmlns:p14="http://schemas.microsoft.com/office/powerpoint/2010/main" val="782713436"/>
      </p:ext>
    </p:extLst>
  </p:cSld>
</p:sld>
</file>

<file path=ppt/slides/slide5.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068CA280-BBC8-440B-B726-631BD4532D0E}"/>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3 · 7:00</a:t>
            </a:r>
          </a:p>
        </p:txBody>
      </p:sp>
      <p:sp>
        <p:nvSpPr>
          <p:cNvPr id="2" name="title">
            <a:extLst xmlns:a="http://schemas.openxmlformats.org/drawingml/2006/main">
              <a:ext uri="{FF2B5EF4-FFF2-40B4-BE49-F238E27FC236}">
                <a16:creationId xmlns:a16="http://schemas.microsoft.com/office/drawing/2014/main" id="{F2C5CBCD-3464-4FB8-BAAD-A0E3FC6D485A}"/>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La secuencia debe sumar veinte minutos</a:t>
            </a:r>
          </a:p>
        </p:txBody>
      </p:sp>
      <p:sp>
        <p:nvSpPr>
          <p:cNvPr id="3" name="">
            <a:extLst xmlns:a="http://schemas.openxmlformats.org/drawingml/2006/main">
              <a:ext uri="{FF2B5EF4-FFF2-40B4-BE49-F238E27FC236}">
                <a16:creationId xmlns:a16="http://schemas.microsoft.com/office/drawing/2014/main" id="{1A5CE566-F563-4FCE-BD4B-F8799FE69136}"/>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B4B545D9-66E2-4FA8-BD7D-F56B53D19CE1}"/>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3 identificar · 4 preparar · 9 producir · 4 verificar = 20 minutos</a:t>
            </a:r>
          </a:p>
        </p:txBody>
      </p:sp>
      <p:sp>
        <p:nvSpPr>
          <p:cNvPr id="5" name="footer">
            <a:extLst xmlns:a="http://schemas.openxmlformats.org/drawingml/2006/main">
              <a:ext uri="{FF2B5EF4-FFF2-40B4-BE49-F238E27FC236}">
                <a16:creationId xmlns:a16="http://schemas.microsoft.com/office/drawing/2014/main" id="{1AC00A5C-2715-4A2D-81BC-7C0C31A14236}"/>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82A0687B-35D3-4958-A5F1-517989E718F1}"/>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05</a:t>
            </a:r>
          </a:p>
        </p:txBody>
      </p:sp>
    </p:spTree>
    <p:extLst>
      <p:ext uri="{BB962C8B-B14F-4D97-AF65-F5344CB8AC3E}">
        <p14:creationId xmlns:p14="http://schemas.microsoft.com/office/powerpoint/2010/main" val="1282109773"/>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2A2735F-816C-4503-AF3E-48284B00891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1162DA2D-39DF-4FC9-AE9C-FA1FE790E4BE}"/>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9:00</a:t>
            </a:r>
          </a:p>
        </p:txBody>
      </p:sp>
      <p:sp>
        <p:nvSpPr>
          <p:cNvPr id="3" name="title">
            <a:extLst xmlns:a="http://schemas.openxmlformats.org/drawingml/2006/main">
              <a:ext uri="{FF2B5EF4-FFF2-40B4-BE49-F238E27FC236}">
                <a16:creationId xmlns:a16="http://schemas.microsoft.com/office/drawing/2014/main" id="{02BBDFB4-7FA0-4D32-8E0A-CCF9D428C1D9}"/>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Una rúbrica útil cambia conductas entre columnas</a:t>
            </a:r>
          </a:p>
        </p:txBody>
      </p:sp>
      <p:sp>
        <p:nvSpPr>
          <p:cNvPr id="4" name="body">
            <a:extLst xmlns:a="http://schemas.openxmlformats.org/drawingml/2006/main">
              <a:ext uri="{FF2B5EF4-FFF2-40B4-BE49-F238E27FC236}">
                <a16:creationId xmlns:a16="http://schemas.microsoft.com/office/drawing/2014/main" id="{269D4FB8-99BA-4449-AEB0-8F5322E70D09}"/>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Cumplimiento · organización · control lingüístico · adecuación profesional</a:t>
            </a:r>
          </a:p>
        </p:txBody>
      </p:sp>
      <p:sp>
        <p:nvSpPr>
          <p:cNvPr id="5" name="">
            <a:extLst xmlns:a="http://schemas.openxmlformats.org/drawingml/2006/main">
              <a:ext uri="{FF2B5EF4-FFF2-40B4-BE49-F238E27FC236}">
                <a16:creationId xmlns:a16="http://schemas.microsoft.com/office/drawing/2014/main" id="{1EE6FFD6-79D8-4C25-BF90-91B5B4447AD6}"/>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C60A7587-AC4B-4F09-B6A7-E96374AB0044}"/>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FC050472-FDA9-4E02-BAD3-ED23AA235D92}"/>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06</a:t>
            </a:r>
          </a:p>
        </p:txBody>
      </p:sp>
    </p:spTree>
    <p:extLst>
      <p:ext uri="{BB962C8B-B14F-4D97-AF65-F5344CB8AC3E}">
        <p14:creationId xmlns:p14="http://schemas.microsoft.com/office/powerpoint/2010/main" val="1534368370"/>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CB5B6AD-FD2F-4C2D-BD94-1A455F23F47A}"/>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21E8AF8E-6500-4515-926D-A859A5266BAB}"/>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11:00</a:t>
            </a:r>
          </a:p>
        </p:txBody>
      </p:sp>
      <p:sp>
        <p:nvSpPr>
          <p:cNvPr id="3" name="title">
            <a:extLst xmlns:a="http://schemas.openxmlformats.org/drawingml/2006/main">
              <a:ext uri="{FF2B5EF4-FFF2-40B4-BE49-F238E27FC236}">
                <a16:creationId xmlns:a16="http://schemas.microsoft.com/office/drawing/2014/main" id="{17CC7AF5-DB0C-4947-B933-4DB4F33C481F}"/>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Prueba de esfuerzo: dos textos deben separarse</a:t>
            </a:r>
          </a:p>
        </p:txBody>
      </p:sp>
      <p:sp>
        <p:nvSpPr>
          <p:cNvPr id="4" name="body">
            <a:extLst xmlns:a="http://schemas.openxmlformats.org/drawingml/2006/main">
              <a:ext uri="{FF2B5EF4-FFF2-40B4-BE49-F238E27FC236}">
                <a16:creationId xmlns:a16="http://schemas.microsoft.com/office/drawing/2014/main" id="{4D18AB72-142F-433A-96AD-5A0EABF7FA3C}"/>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Evidencia por criterio · niveles contiguos distintos · sin doble penalización · reescriba y repita</a:t>
            </a:r>
          </a:p>
        </p:txBody>
      </p:sp>
      <p:sp>
        <p:nvSpPr>
          <p:cNvPr id="5" name="footer">
            <a:extLst xmlns:a="http://schemas.openxmlformats.org/drawingml/2006/main">
              <a:ext uri="{FF2B5EF4-FFF2-40B4-BE49-F238E27FC236}">
                <a16:creationId xmlns:a16="http://schemas.microsoft.com/office/drawing/2014/main" id="{075343A9-FAC8-464E-9ABC-7F19B87069B9}"/>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1EB993B5-44FC-487F-B789-18D14AFE1345}"/>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07</a:t>
            </a:r>
          </a:p>
        </p:txBody>
      </p:sp>
    </p:spTree>
    <p:extLst>
      <p:ext uri="{BB962C8B-B14F-4D97-AF65-F5344CB8AC3E}">
        <p14:creationId xmlns:p14="http://schemas.microsoft.com/office/powerpoint/2010/main" val="402927134"/>
      </p:ext>
    </p:extLst>
  </p:cSld>
</p:sld>
</file>

<file path=ppt/slides/slide8.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BB7509FE-A3C8-43A5-B7A2-ED1F6607A9D7}"/>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3 · 13:00</a:t>
            </a:r>
          </a:p>
        </p:txBody>
      </p:sp>
      <p:sp>
        <p:nvSpPr>
          <p:cNvPr id="2" name="title">
            <a:extLst xmlns:a="http://schemas.openxmlformats.org/drawingml/2006/main">
              <a:ext uri="{FF2B5EF4-FFF2-40B4-BE49-F238E27FC236}">
                <a16:creationId xmlns:a16="http://schemas.microsoft.com/office/drawing/2014/main" id="{4D0F1FC7-99C0-499B-B439-73F7CE05BA0F}"/>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PR-05 · Genere, aplique y corrija</a:t>
            </a:r>
          </a:p>
        </p:txBody>
      </p:sp>
      <p:sp>
        <p:nvSpPr>
          <p:cNvPr id="3" name="">
            <a:extLst xmlns:a="http://schemas.openxmlformats.org/drawingml/2006/main">
              <a:ext uri="{FF2B5EF4-FFF2-40B4-BE49-F238E27FC236}">
                <a16:creationId xmlns:a16="http://schemas.microsoft.com/office/drawing/2014/main" id="{61370150-B29A-4ED5-8B72-1E1F8D6E1552}"/>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29A3A927-959A-48EE-8B92-5B82674D1819}"/>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12 minutos · secuencia · rúbrica · dos puntuaciones · un criterio corregido</a:t>
            </a:r>
          </a:p>
        </p:txBody>
      </p:sp>
      <p:sp>
        <p:nvSpPr>
          <p:cNvPr id="5" name="footer">
            <a:extLst xmlns:a="http://schemas.openxmlformats.org/drawingml/2006/main">
              <a:ext uri="{FF2B5EF4-FFF2-40B4-BE49-F238E27FC236}">
                <a16:creationId xmlns:a16="http://schemas.microsoft.com/office/drawing/2014/main" id="{87A0E0F3-8741-4691-9D39-D2DFD44F2220}"/>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8DA925D4-0DFC-4B10-A2D0-B77B760D4AA8}"/>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08</a:t>
            </a:r>
          </a:p>
        </p:txBody>
      </p:sp>
    </p:spTree>
    <p:extLst>
      <p:ext uri="{BB962C8B-B14F-4D97-AF65-F5344CB8AC3E}">
        <p14:creationId xmlns:p14="http://schemas.microsoft.com/office/powerpoint/2010/main" val="2110345852"/>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A32EFF-1AD7-464D-A637-D5EF550669F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F980D3ED-55F7-407D-BBDF-227A91CB9550}"/>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25:00</a:t>
            </a:r>
          </a:p>
        </p:txBody>
      </p:sp>
      <p:sp>
        <p:nvSpPr>
          <p:cNvPr id="3" name="title">
            <a:extLst xmlns:a="http://schemas.openxmlformats.org/drawingml/2006/main">
              <a:ext uri="{FF2B5EF4-FFF2-40B4-BE49-F238E27FC236}">
                <a16:creationId xmlns:a16="http://schemas.microsoft.com/office/drawing/2014/main" id="{51F86589-40D2-42D1-BB45-834E3285E2FD}"/>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Deposite la evidencia, no solo la rúbrica</a:t>
            </a:r>
          </a:p>
        </p:txBody>
      </p:sp>
      <p:sp>
        <p:nvSpPr>
          <p:cNvPr id="4" name="body">
            <a:extLst xmlns:a="http://schemas.openxmlformats.org/drawingml/2006/main">
              <a:ext uri="{FF2B5EF4-FFF2-40B4-BE49-F238E27FC236}">
                <a16:creationId xmlns:a16="http://schemas.microsoft.com/office/drawing/2014/main" id="{F6AF4B19-6247-4CA0-9EB8-F5832EBCA354}"/>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PR-05 · producto · puntuaciones contrastadas · descriptor corregido · hallazgo crítico</a:t>
            </a:r>
          </a:p>
        </p:txBody>
      </p:sp>
      <p:sp>
        <p:nvSpPr>
          <p:cNvPr id="5" name="">
            <a:extLst xmlns:a="http://schemas.openxmlformats.org/drawingml/2006/main">
              <a:ext uri="{FF2B5EF4-FFF2-40B4-BE49-F238E27FC236}">
                <a16:creationId xmlns:a16="http://schemas.microsoft.com/office/drawing/2014/main" id="{DF51810C-F511-4A07-8BB6-DB00BC7970C0}"/>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23981985-08EB-4BBB-9F4C-89E5EB2E6A89}"/>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8D132829-8CB1-4BFC-A4BF-4F2E0433EE82}"/>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09</a:t>
            </a:r>
          </a:p>
        </p:txBody>
      </p:sp>
    </p:spTree>
    <p:extLst>
      <p:ext uri="{BB962C8B-B14F-4D97-AF65-F5344CB8AC3E}">
        <p14:creationId xmlns:p14="http://schemas.microsoft.com/office/powerpoint/2010/main" val="1465650020"/>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7E3730F-5366-4855-877A-1FD66BE72CD2}"/>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41BADA69-4D0B-49A1-BE9B-F260583ADD31}"/>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30:00</a:t>
            </a:r>
          </a:p>
        </p:txBody>
      </p:sp>
      <p:sp>
        <p:nvSpPr>
          <p:cNvPr id="3" name="title">
            <a:extLst xmlns:a="http://schemas.openxmlformats.org/drawingml/2006/main">
              <a:ext uri="{FF2B5EF4-FFF2-40B4-BE49-F238E27FC236}">
                <a16:creationId xmlns:a16="http://schemas.microsoft.com/office/drawing/2014/main" id="{94839B6B-FD32-42CC-B380-58FEF7F627A7}"/>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PR-06 tiene dos configuraciones diferentes</a:t>
            </a:r>
          </a:p>
        </p:txBody>
      </p:sp>
      <p:sp>
        <p:nvSpPr>
          <p:cNvPr id="4" name="body">
            <a:extLst xmlns:a="http://schemas.openxmlformats.org/drawingml/2006/main">
              <a:ext uri="{FF2B5EF4-FFF2-40B4-BE49-F238E27FC236}">
                <a16:creationId xmlns:a16="http://schemas.microsoft.com/office/drawing/2014/main" id="{2A52DA46-6272-4FF2-A9C5-C1A1010ADFEC}"/>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Interlocutor: sostiene la situación</a:t>
            </a:r>
          </a:p>
          <a:p xmlns:a="http://schemas.openxmlformats.org/drawingml/2006/main">
            <a:pPr algn="l">
              <a:defRPr sz="2400" b="0">
                <a:solidFill>
                  <a:srgbClr val="17242E"/>
                </a:solidFill>
              </a:defRPr>
            </a:pPr>
            <a:r>
              <a:rPr sz="2400" b="0">
                <a:solidFill>
                  <a:srgbClr val="17242E"/>
                </a:solidFill>
              </a:rPr>
              <a:t>Evaluador formativo: prioriza una mejora</a:t>
            </a:r>
          </a:p>
        </p:txBody>
      </p:sp>
      <p:sp>
        <p:nvSpPr>
          <p:cNvPr id="5" name="footer">
            <a:extLst xmlns:a="http://schemas.openxmlformats.org/drawingml/2006/main">
              <a:ext uri="{FF2B5EF4-FFF2-40B4-BE49-F238E27FC236}">
                <a16:creationId xmlns:a16="http://schemas.microsoft.com/office/drawing/2014/main" id="{E17E68ED-B2A8-4D93-9627-A60244633911}"/>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A38B4227-9ACF-49C9-A6F6-174FFB1AC27B}"/>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10</a:t>
            </a:r>
          </a:p>
        </p:txBody>
      </p:sp>
    </p:spTree>
    <p:extLst>
      <p:ext uri="{BB962C8B-B14F-4D97-AF65-F5344CB8AC3E}">
        <p14:creationId xmlns:p14="http://schemas.microsoft.com/office/powerpoint/2010/main" val="1941274289"/>
      </p:ext>
    </p:extLst>
  </p:cSld>
</p:sld>
</file>

<file path=ppt/slides/slide11.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816F8B98-09BD-4812-9FBE-52D8D0DC7716}"/>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3 · 33:00</a:t>
            </a:r>
          </a:p>
        </p:txBody>
      </p:sp>
      <p:sp>
        <p:nvSpPr>
          <p:cNvPr id="2" name="title">
            <a:extLst xmlns:a="http://schemas.openxmlformats.org/drawingml/2006/main">
              <a:ext uri="{FF2B5EF4-FFF2-40B4-BE49-F238E27FC236}">
                <a16:creationId xmlns:a16="http://schemas.microsoft.com/office/drawing/2014/main" id="{86737ABC-A5B9-43EB-A85B-E24420CDF0CC}"/>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El reconocimiento no equivale a una evaluación fonética</a:t>
            </a:r>
          </a:p>
        </p:txBody>
      </p:sp>
      <p:sp>
        <p:nvSpPr>
          <p:cNvPr id="3" name="">
            <a:extLst xmlns:a="http://schemas.openxmlformats.org/drawingml/2006/main">
              <a:ext uri="{FF2B5EF4-FFF2-40B4-BE49-F238E27FC236}">
                <a16:creationId xmlns:a16="http://schemas.microsoft.com/office/drawing/2014/main" id="{CEA4D7EB-A215-4D61-90FB-B7265E2A7C9B}"/>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A59E241E-5348-48E3-8BC1-2CA7C7F0E1DB}"/>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Transcripción incierta · acentos · ruido · latencia · elogio excesivo · salida de nivel</a:t>
            </a:r>
          </a:p>
        </p:txBody>
      </p:sp>
      <p:sp>
        <p:nvSpPr>
          <p:cNvPr id="5" name="footer">
            <a:extLst xmlns:a="http://schemas.openxmlformats.org/drawingml/2006/main">
              <a:ext uri="{FF2B5EF4-FFF2-40B4-BE49-F238E27FC236}">
                <a16:creationId xmlns:a16="http://schemas.microsoft.com/office/drawing/2014/main" id="{7264831F-F108-456E-92D3-9653B98B30CC}"/>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518D7D1B-2554-4D7B-8AC7-96BDF1E85B13}"/>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11</a:t>
            </a:r>
          </a:p>
        </p:txBody>
      </p:sp>
    </p:spTree>
    <p:extLst>
      <p:ext uri="{BB962C8B-B14F-4D97-AF65-F5344CB8AC3E}">
        <p14:creationId xmlns:p14="http://schemas.microsoft.com/office/powerpoint/2010/main" val="1924624555"/>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CF2E8918-FBC6-47E1-ACDB-AAA541197141}"/>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8DE7D4CE-E4D5-48B8-9240-E10C1C09C2B8}"/>
              </a:ext>
            </a:extLst>
          </p:cNvPr>
          <p:cNvSpPr>
            <a:spLocks xmlns:a="http://schemas.openxmlformats.org/drawingml/2006/main" noGrp="1"/>
          </p:cNvSpPr>
          <p:nvPr/>
        </p:nvSpPr>
        <p:spPr>
          <a:xfrm xmlns:a="http://schemas.openxmlformats.org/drawingml/2006/main">
            <a:off x="723900" y="4953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35:00</a:t>
            </a:r>
          </a:p>
        </p:txBody>
      </p:sp>
      <p:sp>
        <p:nvSpPr>
          <p:cNvPr id="3" name="title">
            <a:extLst xmlns:a="http://schemas.openxmlformats.org/drawingml/2006/main">
              <a:ext uri="{FF2B5EF4-FFF2-40B4-BE49-F238E27FC236}">
                <a16:creationId xmlns:a16="http://schemas.microsoft.com/office/drawing/2014/main" id="{087D5481-40AE-477C-9B20-2988B902474F}"/>
              </a:ext>
            </a:extLst>
          </p:cNvPr>
          <p:cNvSpPr>
            <a:spLocks xmlns:a="http://schemas.openxmlformats.org/drawingml/2006/main" noGrp="1"/>
          </p:cNvSpPr>
          <p:nvPr/>
        </p:nvSpPr>
        <p:spPr>
          <a:xfrm xmlns:a="http://schemas.openxmlformats.org/drawingml/2006/main">
            <a:off x="723900" y="1000125"/>
            <a:ext cx="72390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Demostración: controle turno, nivel y corrección</a:t>
            </a:r>
          </a:p>
        </p:txBody>
      </p:sp>
      <p:sp>
        <p:nvSpPr>
          <p:cNvPr id="4" name="body">
            <a:extLst xmlns:a="http://schemas.openxmlformats.org/drawingml/2006/main">
              <a:ext uri="{FF2B5EF4-FFF2-40B4-BE49-F238E27FC236}">
                <a16:creationId xmlns:a16="http://schemas.microsoft.com/office/drawing/2014/main" id="{9CDF6CDA-D984-4A00-AFE1-DCC8700733E0}"/>
              </a:ext>
            </a:extLst>
          </p:cNvPr>
          <p:cNvSpPr>
            <a:spLocks xmlns:a="http://schemas.openxmlformats.org/drawingml/2006/main" noGrp="1"/>
          </p:cNvSpPr>
          <p:nvPr/>
        </p:nvSpPr>
        <p:spPr>
          <a:xfrm xmlns:a="http://schemas.openxmlformats.org/drawingml/2006/main">
            <a:off x="4000500" y="2381250"/>
            <a:ext cx="7143750" cy="2667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Una pregunta · 12 palabras · espere · corrija una prioridad · declare incertidumbre</a:t>
            </a:r>
          </a:p>
        </p:txBody>
      </p:sp>
      <p:sp>
        <p:nvSpPr>
          <p:cNvPr id="5" name="">
            <a:extLst xmlns:a="http://schemas.openxmlformats.org/drawingml/2006/main">
              <a:ext uri="{FF2B5EF4-FFF2-40B4-BE49-F238E27FC236}">
                <a16:creationId xmlns:a16="http://schemas.microsoft.com/office/drawing/2014/main" id="{8A72C540-3BDB-4C0D-A781-D7E854373E12}"/>
              </a:ext>
            </a:extLst>
          </p:cNvPr>
          <p:cNvSpPr>
            <a:spLocks xmlns:a="http://schemas.openxmlformats.org/drawingml/2006/main" noGrp="1"/>
          </p:cNvSpPr>
          <p:nvPr/>
        </p:nvSpPr>
        <p:spPr>
          <a:xfrm xmlns:a="http://schemas.openxmlformats.org/drawingml/2006/main">
            <a:off x="723900" y="2381250"/>
            <a:ext cx="2667000" cy="266700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6" name="footer">
            <a:extLst xmlns:a="http://schemas.openxmlformats.org/drawingml/2006/main">
              <a:ext uri="{FF2B5EF4-FFF2-40B4-BE49-F238E27FC236}">
                <a16:creationId xmlns:a16="http://schemas.microsoft.com/office/drawing/2014/main" id="{1BAFF2A0-6E91-460C-AB5A-8561C5A9F015}"/>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7" name="number">
            <a:extLst xmlns:a="http://schemas.openxmlformats.org/drawingml/2006/main">
              <a:ext uri="{FF2B5EF4-FFF2-40B4-BE49-F238E27FC236}">
                <a16:creationId xmlns:a16="http://schemas.microsoft.com/office/drawing/2014/main" id="{5BA42480-D65E-4A34-96D9-28B4166BA5EF}"/>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12</a:t>
            </a:r>
          </a:p>
        </p:txBody>
      </p:sp>
    </p:spTree>
    <p:extLst>
      <p:ext uri="{BB962C8B-B14F-4D97-AF65-F5344CB8AC3E}">
        <p14:creationId xmlns:p14="http://schemas.microsoft.com/office/powerpoint/2010/main" val="1405642148"/>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AECCF6A-3CAA-459F-8D4C-8A1E74216434}"/>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007F78"/>
          </a:solidFill>
          <a:ln xmlns:a="http://schemas.openxmlformats.org/drawingml/2006/main" w="0">
            <a:noFill/>
            <a:prstDash val="solid"/>
          </a:ln>
        </p:spPr>
      </p:sp>
      <p:sp>
        <p:nvSpPr>
          <p:cNvPr id="2" name="section">
            <a:extLst xmlns:a="http://schemas.openxmlformats.org/drawingml/2006/main">
              <a:ext uri="{FF2B5EF4-FFF2-40B4-BE49-F238E27FC236}">
                <a16:creationId xmlns:a16="http://schemas.microsoft.com/office/drawing/2014/main" id="{A88265A3-8DEA-4C48-B1CC-F7076CD4E960}"/>
              </a:ext>
            </a:extLst>
          </p:cNvPr>
          <p:cNvSpPr>
            <a:spLocks xmlns:a="http://schemas.openxmlformats.org/drawingml/2006/main" noGrp="1"/>
          </p:cNvSpPr>
          <p:nvPr/>
        </p:nvSpPr>
        <p:spPr>
          <a:xfrm xmlns:a="http://schemas.openxmlformats.org/drawingml/2006/main">
            <a:off x="723900" y="4953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007F78"/>
                </a:solidFill>
              </a:defRPr>
            </a:pPr>
            <a:r>
              <a:rPr sz="1200" b="1">
                <a:solidFill>
                  <a:srgbClr val="007F78"/>
                </a:solidFill>
              </a:rPr>
              <a:t>BLOQUE 3 · 38:00</a:t>
            </a:r>
          </a:p>
        </p:txBody>
      </p:sp>
      <p:sp>
        <p:nvSpPr>
          <p:cNvPr id="3" name="title">
            <a:extLst xmlns:a="http://schemas.openxmlformats.org/drawingml/2006/main">
              <a:ext uri="{FF2B5EF4-FFF2-40B4-BE49-F238E27FC236}">
                <a16:creationId xmlns:a16="http://schemas.microsoft.com/office/drawing/2014/main" id="{4773528D-74E9-4CEF-8B58-8A02C7B78950}"/>
              </a:ext>
            </a:extLst>
          </p:cNvPr>
          <p:cNvSpPr>
            <a:spLocks xmlns:a="http://schemas.openxmlformats.org/drawingml/2006/main" noGrp="1"/>
          </p:cNvSpPr>
          <p:nvPr/>
        </p:nvSpPr>
        <p:spPr>
          <a:xfrm xmlns:a="http://schemas.openxmlformats.org/drawingml/2006/main">
            <a:off x="723900" y="952500"/>
            <a:ext cx="1057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3000" b="1">
                <a:solidFill>
                  <a:srgbClr val="17242E"/>
                </a:solidFill>
              </a:defRPr>
            </a:pPr>
            <a:r>
              <a:rPr sz="3000" b="1">
                <a:solidFill>
                  <a:srgbClr val="17242E"/>
                </a:solidFill>
              </a:rPr>
              <a:t>PR-06 · Practique y registre un límite</a:t>
            </a:r>
          </a:p>
        </p:txBody>
      </p:sp>
      <p:sp>
        <p:nvSpPr>
          <p:cNvPr id="4" name="body">
            <a:extLst xmlns:a="http://schemas.openxmlformats.org/drawingml/2006/main">
              <a:ext uri="{FF2B5EF4-FFF2-40B4-BE49-F238E27FC236}">
                <a16:creationId xmlns:a16="http://schemas.microsoft.com/office/drawing/2014/main" id="{E4F003E6-A5DD-4FD2-B0C9-4F8F0B36E389}"/>
              </a:ext>
            </a:extLst>
          </p:cNvPr>
          <p:cNvSpPr>
            <a:spLocks xmlns:a="http://schemas.openxmlformats.org/drawingml/2006/main" noGrp="1"/>
          </p:cNvSpPr>
          <p:nvPr/>
        </p:nvSpPr>
        <p:spPr>
          <a:xfrm xmlns:a="http://schemas.openxmlformats.org/drawingml/2006/main">
            <a:off x="723900" y="2238375"/>
            <a:ext cx="10287000" cy="3143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00" b="0">
                <a:solidFill>
                  <a:srgbClr val="17242E"/>
                </a:solidFill>
              </a:defRPr>
            </a:pPr>
            <a:r>
              <a:rPr sz="2400" b="0">
                <a:solidFill>
                  <a:srgbClr val="17242E"/>
                </a:solidFill>
              </a:rPr>
              <a:t>12 minutos · dos configuraciones · su propia voz · un límite observado · un ajuste</a:t>
            </a:r>
          </a:p>
        </p:txBody>
      </p:sp>
      <p:sp>
        <p:nvSpPr>
          <p:cNvPr id="5" name="footer">
            <a:extLst xmlns:a="http://schemas.openxmlformats.org/drawingml/2006/main">
              <a:ext uri="{FF2B5EF4-FFF2-40B4-BE49-F238E27FC236}">
                <a16:creationId xmlns:a16="http://schemas.microsoft.com/office/drawing/2014/main" id="{B45CD06E-7F7E-4074-A860-5781FC58D471}"/>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5E6B73"/>
                </a:solidFill>
              </a:defRPr>
            </a:pPr>
            <a:r>
              <a:rPr sz="975" b="0">
                <a:solidFill>
                  <a:srgbClr val="5E6B73"/>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BF5268FC-4247-4975-B9D6-2E4281C0388B}"/>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007F78"/>
                </a:solidFill>
              </a:defRPr>
            </a:pPr>
            <a:r>
              <a:rPr sz="1050" b="1">
                <a:solidFill>
                  <a:srgbClr val="007F78"/>
                </a:solidFill>
              </a:rPr>
              <a:t>13</a:t>
            </a:r>
          </a:p>
        </p:txBody>
      </p:sp>
    </p:spTree>
    <p:extLst>
      <p:ext uri="{BB962C8B-B14F-4D97-AF65-F5344CB8AC3E}">
        <p14:creationId xmlns:p14="http://schemas.microsoft.com/office/powerpoint/2010/main" val="2074967476"/>
      </p:ext>
    </p:extLst>
  </p:cSld>
</p:sld>
</file>

<file path=ppt/slides/slide14.xml><?xml version="1.0" encoding="utf-8"?>
<p:sld xmlns:p="http://schemas.openxmlformats.org/presentationml/2006/main">
  <p:cSld>
    <p:bg>
      <p:bgPr>
        <a:solidFill xmlns:a="http://schemas.openxmlformats.org/drawingml/2006/main">
          <a:srgbClr val="123047"/>
        </a:solidFill>
      </p:bgPr>
    </p:bg>
    <p:spTree>
      <p:nvGrpSpPr>
        <p:cNvPr id="1" name=""/>
        <p:cNvGrpSpPr/>
        <p:nvPr/>
      </p:nvGrpSpPr>
      <p:grpSpPr>
        <a:xfrm xmlns:a="http://schemas.openxmlformats.org/drawingml/2006/main"/>
      </p:grpSpPr>
      <p:sp>
        <p:nvSpPr>
          <p:cNvPr id="7" name="section">
            <a:extLst xmlns:a="http://schemas.openxmlformats.org/drawingml/2006/main">
              <a:ext uri="{FF2B5EF4-FFF2-40B4-BE49-F238E27FC236}">
                <a16:creationId xmlns:a16="http://schemas.microsoft.com/office/drawing/2014/main" id="{F594703D-34B7-4E64-A402-33D94352B3AB}"/>
              </a:ext>
            </a:extLst>
          </p:cNvPr>
          <p:cNvSpPr>
            <a:spLocks xmlns:a="http://schemas.openxmlformats.org/drawingml/2006/main" noGrp="1"/>
          </p:cNvSpPr>
          <p:nvPr/>
        </p:nvSpPr>
        <p:spPr>
          <a:xfrm xmlns:a="http://schemas.openxmlformats.org/drawingml/2006/main">
            <a:off x="723900" y="457200"/>
            <a:ext cx="2667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1200" b="1">
                <a:solidFill>
                  <a:srgbClr val="6FB98F"/>
                </a:solidFill>
              </a:defRPr>
            </a:pPr>
            <a:r>
              <a:rPr sz="1200" b="1">
                <a:solidFill>
                  <a:srgbClr val="6FB98F"/>
                </a:solidFill>
              </a:rPr>
              <a:t>BLOQUE 3 · 50:00</a:t>
            </a:r>
          </a:p>
        </p:txBody>
      </p:sp>
      <p:sp>
        <p:nvSpPr>
          <p:cNvPr id="2" name="title">
            <a:extLst xmlns:a="http://schemas.openxmlformats.org/drawingml/2006/main">
              <a:ext uri="{FF2B5EF4-FFF2-40B4-BE49-F238E27FC236}">
                <a16:creationId xmlns:a16="http://schemas.microsoft.com/office/drawing/2014/main" id="{E21E8131-4135-4EBF-9DED-0789C2F1E338}"/>
              </a:ext>
            </a:extLst>
          </p:cNvPr>
          <p:cNvSpPr>
            <a:spLocks xmlns:a="http://schemas.openxmlformats.org/drawingml/2006/main" noGrp="1"/>
          </p:cNvSpPr>
          <p:nvPr/>
        </p:nvSpPr>
        <p:spPr>
          <a:xfrm xmlns:a="http://schemas.openxmlformats.org/drawingml/2006/main">
            <a:off x="723900" y="1000125"/>
            <a:ext cx="10668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925" b="1">
                <a:solidFill>
                  <a:srgbClr val="FFFFFF"/>
                </a:solidFill>
              </a:defRPr>
            </a:pPr>
            <a:r>
              <a:rPr sz="2925" b="1">
                <a:solidFill>
                  <a:srgbClr val="FFFFFF"/>
                </a:solidFill>
              </a:rPr>
              <a:t>Cierre: la IA amplía práctica, no transfiere responsabilidad</a:t>
            </a:r>
          </a:p>
        </p:txBody>
      </p:sp>
      <p:sp>
        <p:nvSpPr>
          <p:cNvPr id="3" name="">
            <a:extLst xmlns:a="http://schemas.openxmlformats.org/drawingml/2006/main">
              <a:ext uri="{FF2B5EF4-FFF2-40B4-BE49-F238E27FC236}">
                <a16:creationId xmlns:a16="http://schemas.microsoft.com/office/drawing/2014/main" id="{C7A6CB99-13AD-4147-9080-084B3E26A777}"/>
              </a:ext>
            </a:extLst>
          </p:cNvPr>
          <p:cNvSpPr>
            <a:spLocks xmlns:a="http://schemas.openxmlformats.org/drawingml/2006/main" noGrp="1"/>
          </p:cNvSpPr>
          <p:nvPr/>
        </p:nvSpPr>
        <p:spPr>
          <a:xfrm xmlns:a="http://schemas.openxmlformats.org/drawingml/2006/main">
            <a:off x="723900" y="2000250"/>
            <a:ext cx="1428750" cy="57150"/>
          </a:xfrm>
          <a:prstGeom xmlns:a="http://schemas.openxmlformats.org/drawingml/2006/main" prst="rect">
            <a:avLst/>
          </a:prstGeom>
          <a:solidFill xmlns:a="http://schemas.openxmlformats.org/drawingml/2006/main">
            <a:srgbClr val="6FB98F"/>
          </a:solidFill>
          <a:ln xmlns:a="http://schemas.openxmlformats.org/drawingml/2006/main" w="0">
            <a:noFill/>
            <a:prstDash val="solid"/>
          </a:ln>
        </p:spPr>
      </p:sp>
      <p:sp>
        <p:nvSpPr>
          <p:cNvPr id="4" name="body">
            <a:extLst xmlns:a="http://schemas.openxmlformats.org/drawingml/2006/main">
              <a:ext uri="{FF2B5EF4-FFF2-40B4-BE49-F238E27FC236}">
                <a16:creationId xmlns:a16="http://schemas.microsoft.com/office/drawing/2014/main" id="{E0436C83-7269-40CB-A5AD-D0CBA3213DC7}"/>
              </a:ext>
            </a:extLst>
          </p:cNvPr>
          <p:cNvSpPr>
            <a:spLocks xmlns:a="http://schemas.openxmlformats.org/drawingml/2006/main" noGrp="1"/>
          </p:cNvSpPr>
          <p:nvPr/>
        </p:nvSpPr>
        <p:spPr>
          <a:xfrm xmlns:a="http://schemas.openxmlformats.org/drawingml/2006/main">
            <a:off x="723900" y="2381250"/>
            <a:ext cx="104775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2475" b="0">
                <a:solidFill>
                  <a:srgbClr val="FFFFFF"/>
                </a:solidFill>
              </a:defRPr>
            </a:pPr>
            <a:r>
              <a:rPr sz="2475" b="0">
                <a:solidFill>
                  <a:srgbClr val="FFFFFF"/>
                </a:solidFill>
              </a:rPr>
              <a:t>Verifique nivel · conserve producción · documente evidencia · adapte al grupo · decida usted</a:t>
            </a:r>
          </a:p>
        </p:txBody>
      </p:sp>
      <p:sp>
        <p:nvSpPr>
          <p:cNvPr id="5" name="footer">
            <a:extLst xmlns:a="http://schemas.openxmlformats.org/drawingml/2006/main">
              <a:ext uri="{FF2B5EF4-FFF2-40B4-BE49-F238E27FC236}">
                <a16:creationId xmlns:a16="http://schemas.microsoft.com/office/drawing/2014/main" id="{FCF5E008-4AB6-433D-8C9A-1C7E38EA24F3}"/>
              </a:ext>
            </a:extLst>
          </p:cNvPr>
          <p:cNvSpPr>
            <a:spLocks xmlns:a="http://schemas.openxmlformats.org/drawingml/2006/main" noGrp="1"/>
          </p:cNvSpPr>
          <p:nvPr/>
        </p:nvSpPr>
        <p:spPr>
          <a:xfrm xmlns:a="http://schemas.openxmlformats.org/drawingml/2006/main">
            <a:off x="723900" y="6286500"/>
            <a:ext cx="1000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defRPr sz="975" b="0">
                <a:solidFill>
                  <a:srgbClr val="C8D4DA"/>
                </a:solidFill>
              </a:defRPr>
            </a:pPr>
            <a:r>
              <a:rPr sz="975" b="0">
                <a:solidFill>
                  <a:srgbClr val="C8D4DA"/>
                </a:solidFill>
              </a:rPr>
              <a:t>INA · Team Up 2 Level Up · 6 octubre 2026</a:t>
            </a:r>
          </a:p>
        </p:txBody>
      </p:sp>
      <p:sp>
        <p:nvSpPr>
          <p:cNvPr id="6" name="number">
            <a:extLst xmlns:a="http://schemas.openxmlformats.org/drawingml/2006/main">
              <a:ext uri="{FF2B5EF4-FFF2-40B4-BE49-F238E27FC236}">
                <a16:creationId xmlns:a16="http://schemas.microsoft.com/office/drawing/2014/main" id="{4C80C704-B15D-44ED-8D0C-6678CDF562D2}"/>
              </a:ext>
            </a:extLst>
          </p:cNvPr>
          <p:cNvSpPr>
            <a:spLocks xmlns:a="http://schemas.openxmlformats.org/drawingml/2006/main" noGrp="1"/>
          </p:cNvSpPr>
          <p:nvPr/>
        </p:nvSpPr>
        <p:spPr>
          <a:xfrm xmlns:a="http://schemas.openxmlformats.org/drawingml/2006/main">
            <a:off x="11144250" y="6238875"/>
            <a:ext cx="38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defRPr sz="1050" b="1">
                <a:solidFill>
                  <a:srgbClr val="6FB98F"/>
                </a:solidFill>
              </a:defRPr>
            </a:pPr>
            <a:r>
              <a:rPr sz="1050" b="1">
                <a:solidFill>
                  <a:srgbClr val="6FB98F"/>
                </a:solidFill>
              </a:rPr>
              <a:t>14</a:t>
            </a:r>
          </a:p>
        </p:txBody>
      </p:sp>
    </p:spTree>
    <p:extLst>
      <p:ext uri="{BB962C8B-B14F-4D97-AF65-F5344CB8AC3E}">
        <p14:creationId xmlns:p14="http://schemas.microsoft.com/office/powerpoint/2010/main" val="2116190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2026-08-28T15:40:34.0060000Z</dcterms:created>
  <dcterms:modified xsi:type="dcterms:W3CDTF">2026-08-28T15:40:34.0060000Z</dcterms:modified>
</coreProperties>
</file>